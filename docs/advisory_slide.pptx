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Systems such as Moshi convert speech into discrete tokens before any language model sees it, so whatever the tokeniser discards is unavailable downstream. If it discards pragmatic force, a system can recover every word correctly and still misread how the speaker meant them.
WHAT "PROBING" MEANS
The pretrained models are frozen, meaning never updated. We extract representations once and train only a small linear classifier on top, so any accuracy reflects what the representation already encodes rather than what a model learned for the task.
THE CORPUS BEHIND THE FUNNEL
The 7,310 hours is the full indexed collection, 6,281 episodes across 32 shows of political podcasts and broadcast programmes. It is the population sampled from rather than material analysed end to end, so describe it that way. The 873 keepers span 753 episodes and 32 shows. Candidates were drawn by a stratified pull balanced across shows and then topped up with sense-targeted and collocation-targeted pulls, because a purely random draw from a corpus this size over-samples the dominant sense of each word.
HUMAN PREMISE CHECK, RUN BEFORE ANY MODELLING
Two auxiliary annotators judged a counterbalanced 60-clip subset. Audio plus transcript reached 0.73 accuracy against 0.65 for transcript with discourse context, on a three-way chance of 0.33. So the contrast is partly text-recoverable but audio adds a real increment.
WHAT COUNTS AS CHANCE
Macro-F1 has no fixed chance value. A majority-class predictor scores only 0.196 here because macro-F1 gives zero to the two classes it never predicts, but our probe uses balanced class weights and spreads predictions across all three, so that is not its no-skill counterpart. The reference on the chart is the empirical permutation null, the same probe refit on shuffled labels, which sits near 0.33. Uniform and prior-matched random guessing give 0.322 and 0.333, agreeing closely.
ROBUSTNESS
Matched arousal. Stance is still decoded within each arousal level separately, so the probe is not simply reading loudness.
Speaker held out. Grouping folds by show rather than episode moves WavLM only from 0.573 to 0.530, so it is not riding speaker identity.
Non-independence. All scores are out of fold under GroupKFold by episode, with episode-cluster bootstrap intervals and 200-permutation tests. Every representation beats chance at p at most 0.01.
WHERE THE CONTRAST LIVES
WavLM peaks at layer 20 of 24 and falls away above it, consistent with upper layers shedding paralinguistics. Whisper plateaus across its top third. Inside Mimi, what little survives sits in codebook 0, the WavLM-distilled stream, at 0.402. The seven acoustic refinement codebooks are at or near chance and five of them are not significant. Chapter 2 predicted the opposite, so this is reported as a corrected expectation.
CAVEATS TO RAISE
The Mimi figure is all eight codebooks, the condition a deployed model actually consumes, at 0.381 against a chance of 0.311.
Pooled target-only text sits above chance only because the eight phrases differ in stance base rate, which is why the within-word figure is the clean lexical control.
Text with discourse context clears chance by only 0.045, close to Mimi, even though humans reached 0.65 from the same context. That gap is a limitation of the frozen sentence-embedding baseline rather than evidence that context is uninformative.
The training-free contrast-preservation score points the same way but is underpowered at 191 decisions and sensitive to the distance metric, so it is reported as corroborating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19456"/>
            <a:ext cx="11247120" cy="502920"/>
          </a:xfrm>
          <a:prstGeom prst="rect">
            <a:avLst/>
          </a:prstGeom>
          <a:noFill/>
          <a:ln/>
        </p:spPr>
        <p:txBody>
          <a:bodyPr wrap="square" lIns="0" tIns="0" rIns="0" bIns="0" rtlCol="0" anchor="ctr"/>
          <a:lstStyle/>
          <a:p>
            <a:pPr indent="0" marL="0">
              <a:buNone/>
            </a:pPr>
            <a:r>
              <a:rPr lang="en-US" sz="2600" b="1" dirty="0">
                <a:solidFill>
                  <a:srgbClr val="131920"/>
                </a:solidFill>
                <a:latin typeface="Cambria" pitchFamily="34" charset="0"/>
                <a:ea typeface="Cambria" pitchFamily="34" charset="-122"/>
                <a:cs typeface="Cambria" pitchFamily="34" charset="-120"/>
              </a:rPr>
              <a:t>Transcript-Equivalent Pragmatic Contrast in Speech Representations</a:t>
            </a:r>
            <a:endParaRPr lang="en-US" sz="2600" dirty="0"/>
          </a:p>
        </p:txBody>
      </p:sp>
      <p:sp>
        <p:nvSpPr>
          <p:cNvPr id="3" name="Text 1"/>
          <p:cNvSpPr/>
          <p:nvPr/>
        </p:nvSpPr>
        <p:spPr>
          <a:xfrm>
            <a:off x="457200" y="768096"/>
            <a:ext cx="11247120" cy="347472"/>
          </a:xfrm>
          <a:prstGeom prst="rect">
            <a:avLst/>
          </a:prstGeom>
          <a:noFill/>
          <a:ln/>
        </p:spPr>
        <p:txBody>
          <a:bodyPr wrap="square" lIns="0" tIns="0" rIns="0" bIns="0" rtlCol="0" anchor="ctr"/>
          <a:lstStyle/>
          <a:p>
            <a:pPr indent="0" marL="0">
              <a:buNone/>
            </a:pPr>
            <a:r>
              <a:rPr lang="en-US" sz="1400" i="1" dirty="0">
                <a:solidFill>
                  <a:srgbClr val="0F7A84"/>
                </a:solidFill>
                <a:latin typeface="Cambria" pitchFamily="34" charset="0"/>
                <a:ea typeface="Cambria" pitchFamily="34" charset="-122"/>
                <a:cs typeface="Cambria" pitchFamily="34" charset="-120"/>
              </a:rPr>
              <a:t>Deployed speech-to-speech systems never hear audio. They hear discrete tokens. Do those tokens still carry what a speaker meant?</a:t>
            </a:r>
            <a:endParaRPr lang="en-US" sz="1400" dirty="0"/>
          </a:p>
        </p:txBody>
      </p:sp>
      <p:sp>
        <p:nvSpPr>
          <p:cNvPr id="4" name="Text 2"/>
          <p:cNvSpPr/>
          <p:nvPr/>
        </p:nvSpPr>
        <p:spPr>
          <a:xfrm>
            <a:off x="457200" y="1097280"/>
            <a:ext cx="11247120" cy="219456"/>
          </a:xfrm>
          <a:prstGeom prst="rect">
            <a:avLst/>
          </a:prstGeom>
          <a:noFill/>
          <a:ln/>
        </p:spPr>
        <p:txBody>
          <a:bodyPr wrap="square" lIns="0" tIns="0" rIns="0" bIns="0" rtlCol="0" anchor="ctr"/>
          <a:lstStyle/>
          <a:p>
            <a:pPr indent="0" marL="0">
              <a:buNone/>
            </a:pPr>
            <a:r>
              <a:rPr lang="en-US" sz="950" spc="60" kern="0" dirty="0">
                <a:solidFill>
                  <a:srgbClr val="8A94A1"/>
                </a:solidFill>
                <a:latin typeface="Calibri" pitchFamily="34" charset="0"/>
                <a:ea typeface="Calibri" pitchFamily="34" charset="-122"/>
                <a:cs typeface="Calibri" pitchFamily="34" charset="-120"/>
              </a:rPr>
              <a:t>MA Computational Linguistics   |   UCL   |   C. Swartz   |   July 2026</a:t>
            </a:r>
            <a:endParaRPr lang="en-US" sz="950" dirty="0"/>
          </a:p>
        </p:txBody>
      </p:sp>
      <p:sp>
        <p:nvSpPr>
          <p:cNvPr id="5" name="Shape 3"/>
          <p:cNvSpPr/>
          <p:nvPr/>
        </p:nvSpPr>
        <p:spPr>
          <a:xfrm>
            <a:off x="457200" y="1335024"/>
            <a:ext cx="11247120" cy="0"/>
          </a:xfrm>
          <a:prstGeom prst="line">
            <a:avLst/>
          </a:prstGeom>
          <a:noFill/>
          <a:ln w="9525">
            <a:solidFill>
              <a:srgbClr val="DDE1E7"/>
            </a:solidFill>
            <a:prstDash val="solid"/>
          </a:ln>
        </p:spPr>
      </p:sp>
      <p:sp>
        <p:nvSpPr>
          <p:cNvPr id="6" name="Shape 4"/>
          <p:cNvSpPr/>
          <p:nvPr/>
        </p:nvSpPr>
        <p:spPr>
          <a:xfrm>
            <a:off x="457200" y="1426464"/>
            <a:ext cx="173736" cy="173736"/>
          </a:xfrm>
          <a:prstGeom prst="ellipse">
            <a:avLst/>
          </a:prstGeom>
          <a:solidFill>
            <a:srgbClr val="0F7A84"/>
          </a:solidFill>
          <a:ln w="12700">
            <a:solidFill>
              <a:srgbClr val="333333"/>
            </a:solidFill>
            <a:prstDash val="solid"/>
          </a:ln>
        </p:spPr>
      </p:sp>
      <p:sp>
        <p:nvSpPr>
          <p:cNvPr id="7" name="Text 5"/>
          <p:cNvSpPr/>
          <p:nvPr/>
        </p:nvSpPr>
        <p:spPr>
          <a:xfrm>
            <a:off x="457200" y="1426464"/>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8" name="Text 6"/>
          <p:cNvSpPr/>
          <p:nvPr/>
        </p:nvSpPr>
        <p:spPr>
          <a:xfrm>
            <a:off x="704088" y="1417320"/>
            <a:ext cx="3328416" cy="192024"/>
          </a:xfrm>
          <a:prstGeom prst="rect">
            <a:avLst/>
          </a:prstGeom>
          <a:noFill/>
          <a:ln/>
        </p:spPr>
        <p:txBody>
          <a:bodyPr wrap="square" lIns="0" tIns="0" rIns="0" bIns="0" rtlCol="0" anchor="ctr"/>
          <a:lstStyle/>
          <a:p>
            <a:pPr indent="0" marL="0">
              <a:buNone/>
            </a:pPr>
            <a:r>
              <a:rPr lang="en-US" sz="950" b="1" spc="100" kern="0" dirty="0">
                <a:solidFill>
                  <a:srgbClr val="131920"/>
                </a:solidFill>
                <a:latin typeface="Calibri" pitchFamily="34" charset="0"/>
                <a:ea typeface="Calibri" pitchFamily="34" charset="-122"/>
                <a:cs typeface="Calibri" pitchFamily="34" charset="-120"/>
              </a:rPr>
              <a:t>ESTABLISHED</a:t>
            </a:r>
            <a:endParaRPr lang="en-US" sz="950" dirty="0"/>
          </a:p>
        </p:txBody>
      </p:sp>
      <p:sp>
        <p:nvSpPr>
          <p:cNvPr id="9" name="Shape 7"/>
          <p:cNvSpPr/>
          <p:nvPr/>
        </p:nvSpPr>
        <p:spPr>
          <a:xfrm>
            <a:off x="4288536" y="1426464"/>
            <a:ext cx="173736" cy="173736"/>
          </a:xfrm>
          <a:prstGeom prst="ellipse">
            <a:avLst/>
          </a:prstGeom>
          <a:solidFill>
            <a:srgbClr val="0F7A84"/>
          </a:solidFill>
          <a:ln w="12700">
            <a:solidFill>
              <a:srgbClr val="333333"/>
            </a:solidFill>
            <a:prstDash val="solid"/>
          </a:ln>
        </p:spPr>
      </p:sp>
      <p:sp>
        <p:nvSpPr>
          <p:cNvPr id="10" name="Text 8"/>
          <p:cNvSpPr/>
          <p:nvPr/>
        </p:nvSpPr>
        <p:spPr>
          <a:xfrm>
            <a:off x="4288536" y="1426464"/>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11" name="Text 9"/>
          <p:cNvSpPr/>
          <p:nvPr/>
        </p:nvSpPr>
        <p:spPr>
          <a:xfrm>
            <a:off x="4535424" y="1417320"/>
            <a:ext cx="3328416" cy="192024"/>
          </a:xfrm>
          <a:prstGeom prst="rect">
            <a:avLst/>
          </a:prstGeom>
          <a:noFill/>
          <a:ln/>
        </p:spPr>
        <p:txBody>
          <a:bodyPr wrap="square" lIns="0" tIns="0" rIns="0" bIns="0" rtlCol="0" anchor="ctr"/>
          <a:lstStyle/>
          <a:p>
            <a:pPr indent="0" marL="0">
              <a:buNone/>
            </a:pPr>
            <a:r>
              <a:rPr lang="en-US" sz="950" b="1" spc="100" kern="0" dirty="0">
                <a:solidFill>
                  <a:srgbClr val="131920"/>
                </a:solidFill>
                <a:latin typeface="Calibri" pitchFamily="34" charset="0"/>
                <a:ea typeface="Calibri" pitchFamily="34" charset="-122"/>
                <a:cs typeface="Calibri" pitchFamily="34" charset="-120"/>
              </a:rPr>
              <a:t>LEFT UNTESTED</a:t>
            </a:r>
            <a:endParaRPr lang="en-US" sz="950" dirty="0"/>
          </a:p>
        </p:txBody>
      </p:sp>
      <p:sp>
        <p:nvSpPr>
          <p:cNvPr id="12" name="Shape 10"/>
          <p:cNvSpPr/>
          <p:nvPr/>
        </p:nvSpPr>
        <p:spPr>
          <a:xfrm>
            <a:off x="8119872" y="1426464"/>
            <a:ext cx="173736" cy="173736"/>
          </a:xfrm>
          <a:prstGeom prst="ellipse">
            <a:avLst/>
          </a:prstGeom>
          <a:solidFill>
            <a:srgbClr val="0F7A84"/>
          </a:solidFill>
          <a:ln w="12700">
            <a:solidFill>
              <a:srgbClr val="333333"/>
            </a:solidFill>
            <a:prstDash val="solid"/>
          </a:ln>
        </p:spPr>
      </p:sp>
      <p:sp>
        <p:nvSpPr>
          <p:cNvPr id="13" name="Text 11"/>
          <p:cNvSpPr/>
          <p:nvPr/>
        </p:nvSpPr>
        <p:spPr>
          <a:xfrm>
            <a:off x="8119872" y="1426464"/>
            <a:ext cx="173736" cy="17373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14" name="Text 12"/>
          <p:cNvSpPr/>
          <p:nvPr/>
        </p:nvSpPr>
        <p:spPr>
          <a:xfrm>
            <a:off x="8366760" y="1417320"/>
            <a:ext cx="3328416" cy="192024"/>
          </a:xfrm>
          <a:prstGeom prst="rect">
            <a:avLst/>
          </a:prstGeom>
          <a:noFill/>
          <a:ln/>
        </p:spPr>
        <p:txBody>
          <a:bodyPr wrap="square" lIns="0" tIns="0" rIns="0" bIns="0" rtlCol="0" anchor="ctr"/>
          <a:lstStyle/>
          <a:p>
            <a:pPr indent="0" marL="0">
              <a:buNone/>
            </a:pPr>
            <a:r>
              <a:rPr lang="en-US" sz="950" b="1" spc="100" kern="0" dirty="0">
                <a:solidFill>
                  <a:srgbClr val="131920"/>
                </a:solidFill>
                <a:latin typeface="Calibri" pitchFamily="34" charset="0"/>
                <a:ea typeface="Calibri" pitchFamily="34" charset="-122"/>
                <a:cs typeface="Calibri" pitchFamily="34" charset="-120"/>
              </a:rPr>
              <a:t>SO THIS STUDY</a:t>
            </a:r>
            <a:endParaRPr lang="en-US" sz="950" dirty="0"/>
          </a:p>
        </p:txBody>
      </p:sp>
      <p:sp>
        <p:nvSpPr>
          <p:cNvPr id="15" name="Text 13"/>
          <p:cNvSpPr/>
          <p:nvPr/>
        </p:nvSpPr>
        <p:spPr>
          <a:xfrm>
            <a:off x="457200" y="1682496"/>
            <a:ext cx="3575304" cy="841248"/>
          </a:xfrm>
          <a:prstGeom prst="rect">
            <a:avLst/>
          </a:prstGeom>
          <a:noFill/>
          <a:ln/>
        </p:spPr>
        <p:txBody>
          <a:bodyPr wrap="square" lIns="0" tIns="0" rIns="0" bIns="0" rtlCol="0" anchor="ctr"/>
          <a:lstStyle/>
          <a:p>
            <a:pPr indent="0" marL="0">
              <a:lnSpc>
                <a:spcPct val="108000"/>
              </a:lnSpc>
              <a:buNone/>
            </a:pPr>
            <a:r>
              <a:rPr lang="en-US" sz="950" dirty="0">
                <a:solidFill>
                  <a:srgbClr val="5C6773"/>
                </a:solidFill>
                <a:latin typeface="Calibri" pitchFamily="34" charset="0"/>
                <a:ea typeface="Calibri" pitchFamily="34" charset="-122"/>
                <a:cs typeface="Calibri" pitchFamily="34" charset="-120"/>
              </a:rPr>
              <a:t>Speech representations recover pragmatic phenomena better than text, shown by </a:t>
            </a:r>
            <a:pPr indent="0" marL="0">
              <a:lnSpc>
                <a:spcPct val="108000"/>
              </a:lnSpc>
              <a:buNone/>
            </a:pPr>
            <a:r>
              <a:rPr lang="en-US" sz="950" b="1" dirty="0">
                <a:solidFill>
                  <a:srgbClr val="131920"/>
                </a:solidFill>
                <a:latin typeface="Calibri" pitchFamily="34" charset="0"/>
                <a:ea typeface="Calibri" pitchFamily="34" charset="-122"/>
                <a:cs typeface="Calibri" pitchFamily="34" charset="-120"/>
              </a:rPr>
              <a:t>Lin et al. (2022)</a:t>
            </a:r>
            <a:pPr indent="0" marL="0">
              <a:lnSpc>
                <a:spcPct val="108000"/>
              </a:lnSpc>
              <a:buNone/>
            </a:pPr>
            <a:r>
              <a:rPr lang="en-US" sz="950" dirty="0">
                <a:solidFill>
                  <a:srgbClr val="5C6773"/>
                </a:solidFill>
                <a:latin typeface="Calibri" pitchFamily="34" charset="0"/>
                <a:ea typeface="Calibri" pitchFamily="34" charset="-122"/>
                <a:cs typeface="Calibri" pitchFamily="34" charset="-120"/>
              </a:rPr>
              <a:t> probing self-supervised models on sarcasm. Separately, discretisation is known to damage paralinguistic content (DASB, Mousavi et al. 2026). </a:t>
            </a:r>
            <a:pPr indent="0" marL="0">
              <a:lnSpc>
                <a:spcPct val="108000"/>
              </a:lnSpc>
              <a:buNone/>
            </a:pPr>
            <a:r>
              <a:rPr lang="en-US" sz="950" i="1" dirty="0">
                <a:solidFill>
                  <a:srgbClr val="131920"/>
                </a:solidFill>
                <a:latin typeface="Calibri" pitchFamily="34" charset="0"/>
                <a:ea typeface="Calibri" pitchFamily="34" charset="-122"/>
                <a:cs typeface="Calibri" pitchFamily="34" charset="-120"/>
              </a:rPr>
              <a:t>Neither claim is reclaimed here.</a:t>
            </a:r>
            <a:endParaRPr lang="en-US" sz="950" dirty="0"/>
          </a:p>
        </p:txBody>
      </p:sp>
      <p:sp>
        <p:nvSpPr>
          <p:cNvPr id="16" name="Text 14"/>
          <p:cNvSpPr/>
          <p:nvPr/>
        </p:nvSpPr>
        <p:spPr>
          <a:xfrm>
            <a:off x="4288536" y="1682496"/>
            <a:ext cx="3575304" cy="841248"/>
          </a:xfrm>
          <a:prstGeom prst="rect">
            <a:avLst/>
          </a:prstGeom>
          <a:noFill/>
          <a:ln/>
        </p:spPr>
        <p:txBody>
          <a:bodyPr wrap="square" lIns="0" tIns="0" rIns="0" bIns="0" rtlCol="0" anchor="ctr"/>
          <a:lstStyle/>
          <a:p>
            <a:pPr indent="0" marL="0">
              <a:lnSpc>
                <a:spcPct val="108000"/>
              </a:lnSpc>
              <a:buNone/>
            </a:pPr>
            <a:r>
              <a:rPr lang="en-US" sz="950" dirty="0">
                <a:solidFill>
                  <a:srgbClr val="5C6773"/>
                </a:solidFill>
                <a:latin typeface="Calibri" pitchFamily="34" charset="0"/>
                <a:ea typeface="Calibri" pitchFamily="34" charset="-122"/>
                <a:cs typeface="Calibri" pitchFamily="34" charset="-120"/>
              </a:rPr>
              <a:t>Lin et al. probed </a:t>
            </a:r>
            <a:pPr indent="0" marL="0">
              <a:lnSpc>
                <a:spcPct val="108000"/>
              </a:lnSpc>
              <a:buNone/>
            </a:pPr>
            <a:r>
              <a:rPr lang="en-US" sz="950" b="1" dirty="0">
                <a:solidFill>
                  <a:srgbClr val="131920"/>
                </a:solidFill>
                <a:latin typeface="Calibri" pitchFamily="34" charset="0"/>
                <a:ea typeface="Calibri" pitchFamily="34" charset="-122"/>
                <a:cs typeface="Calibri" pitchFamily="34" charset="-120"/>
              </a:rPr>
              <a:t>MUStARD</a:t>
            </a:r>
            <a:pPr indent="0" marL="0">
              <a:lnSpc>
                <a:spcPct val="108000"/>
              </a:lnSpc>
              <a:buNone/>
            </a:pPr>
            <a:r>
              <a:rPr lang="en-US" sz="950" dirty="0">
                <a:solidFill>
                  <a:srgbClr val="5C6773"/>
                </a:solidFill>
                <a:latin typeface="Calibri" pitchFamily="34" charset="0"/>
                <a:ea typeface="Calibri" pitchFamily="34" charset="-122"/>
                <a:cs typeface="Calibri" pitchFamily="34" charset="-120"/>
              </a:rPr>
              <a:t>, where the utterances also differ in their words, so delivery stays confounded with word choice. That corpus is acted television speech, carries one binary sarcasm label, and no discrete tokeniser was compared. So whether tokenisation loses </a:t>
            </a:r>
            <a:pPr indent="0" marL="0">
              <a:lnSpc>
                <a:spcPct val="108000"/>
              </a:lnSpc>
              <a:buNone/>
            </a:pPr>
            <a:r>
              <a:rPr lang="en-US" sz="950" i="1" dirty="0">
                <a:solidFill>
                  <a:srgbClr val="131920"/>
                </a:solidFill>
                <a:latin typeface="Calibri" pitchFamily="34" charset="0"/>
                <a:ea typeface="Calibri" pitchFamily="34" charset="-122"/>
                <a:cs typeface="Calibri" pitchFamily="34" charset="-120"/>
              </a:rPr>
              <a:t>meaning</a:t>
            </a:r>
            <a:pPr indent="0" marL="0">
              <a:lnSpc>
                <a:spcPct val="108000"/>
              </a:lnSpc>
              <a:buNone/>
            </a:pPr>
            <a:r>
              <a:rPr lang="en-US" sz="950" dirty="0">
                <a:solidFill>
                  <a:srgbClr val="5C6773"/>
                </a:solidFill>
                <a:latin typeface="Calibri" pitchFamily="34" charset="0"/>
                <a:ea typeface="Calibri" pitchFamily="34" charset="-122"/>
                <a:cs typeface="Calibri" pitchFamily="34" charset="-120"/>
              </a:rPr>
              <a:t> or only </a:t>
            </a:r>
            <a:pPr indent="0" marL="0">
              <a:lnSpc>
                <a:spcPct val="108000"/>
              </a:lnSpc>
              <a:buNone/>
            </a:pPr>
            <a:r>
              <a:rPr lang="en-US" sz="950" i="1" dirty="0">
                <a:solidFill>
                  <a:srgbClr val="131920"/>
                </a:solidFill>
                <a:latin typeface="Calibri" pitchFamily="34" charset="0"/>
                <a:ea typeface="Calibri" pitchFamily="34" charset="-122"/>
                <a:cs typeface="Calibri" pitchFamily="34" charset="-120"/>
              </a:rPr>
              <a:t>sound</a:t>
            </a:r>
            <a:pPr indent="0" marL="0">
              <a:lnSpc>
                <a:spcPct val="108000"/>
              </a:lnSpc>
              <a:buNone/>
            </a:pPr>
            <a:r>
              <a:rPr lang="en-US" sz="950" dirty="0">
                <a:solidFill>
                  <a:srgbClr val="5C6773"/>
                </a:solidFill>
                <a:latin typeface="Calibri" pitchFamily="34" charset="0"/>
                <a:ea typeface="Calibri" pitchFamily="34" charset="-122"/>
                <a:cs typeface="Calibri" pitchFamily="34" charset="-120"/>
              </a:rPr>
              <a:t> has never been tested.</a:t>
            </a:r>
            <a:endParaRPr lang="en-US" sz="950" dirty="0"/>
          </a:p>
        </p:txBody>
      </p:sp>
      <p:sp>
        <p:nvSpPr>
          <p:cNvPr id="17" name="Text 15"/>
          <p:cNvSpPr/>
          <p:nvPr/>
        </p:nvSpPr>
        <p:spPr>
          <a:xfrm>
            <a:off x="8119872" y="1682496"/>
            <a:ext cx="3575304" cy="841248"/>
          </a:xfrm>
          <a:prstGeom prst="rect">
            <a:avLst/>
          </a:prstGeom>
          <a:noFill/>
          <a:ln/>
        </p:spPr>
        <p:txBody>
          <a:bodyPr wrap="square" lIns="0" tIns="0" rIns="0" bIns="0" rtlCol="0" anchor="ctr"/>
          <a:lstStyle/>
          <a:p>
            <a:pPr indent="0" marL="0">
              <a:lnSpc>
                <a:spcPct val="122000"/>
              </a:lnSpc>
              <a:buNone/>
            </a:pPr>
            <a:r>
              <a:rPr lang="en-US" sz="950" strike="sngStrike" dirty="0">
                <a:solidFill>
                  <a:srgbClr val="8A94A1"/>
                </a:solidFill>
                <a:latin typeface="Calibri" pitchFamily="34" charset="0"/>
                <a:ea typeface="Calibri" pitchFamily="34" charset="-122"/>
                <a:cs typeface="Calibri" pitchFamily="34" charset="-120"/>
              </a:rPr>
              <a:t>words vary</a:t>
            </a:r>
            <a:pPr indent="0" marL="0">
              <a:lnSpc>
                <a:spcPct val="122000"/>
              </a:lnSpc>
              <a:buNone/>
            </a:pPr>
            <a:r>
              <a:rPr lang="en-US" sz="950" b="1" dirty="0">
                <a:solidFill>
                  <a:srgbClr val="0F7A84"/>
                </a:solidFill>
                <a:latin typeface="Calibri" pitchFamily="34" charset="0"/>
                <a:ea typeface="Calibri" pitchFamily="34" charset="-122"/>
                <a:cs typeface="Calibri" pitchFamily="34" charset="-120"/>
              </a:rPr>
              <a:t>   →   </a:t>
            </a:r>
            <a:pPr indent="0" marL="0">
              <a:lnSpc>
                <a:spcPct val="122000"/>
              </a:lnSpc>
              <a:buNone/>
            </a:pPr>
            <a:r>
              <a:rPr lang="en-US" sz="950" dirty="0">
                <a:solidFill>
                  <a:srgbClr val="131920"/>
                </a:solidFill>
                <a:latin typeface="Calibri" pitchFamily="34" charset="0"/>
                <a:ea typeface="Calibri" pitchFamily="34" charset="-122"/>
                <a:cs typeface="Calibri" pitchFamily="34" charset="-120"/>
              </a:rPr>
              <a:t>word held constant</a:t>
            </a:r>
            <a:endParaRPr lang="en-US" sz="950" dirty="0"/>
          </a:p>
          <a:p>
            <a:pPr indent="0" marL="0">
              <a:lnSpc>
                <a:spcPct val="122000"/>
              </a:lnSpc>
              <a:buNone/>
            </a:pPr>
            <a:r>
              <a:rPr lang="en-US" sz="950" strike="sngStrike" dirty="0">
                <a:solidFill>
                  <a:srgbClr val="8A94A1"/>
                </a:solidFill>
                <a:latin typeface="Calibri" pitchFamily="34" charset="0"/>
                <a:ea typeface="Calibri" pitchFamily="34" charset="-122"/>
                <a:cs typeface="Calibri" pitchFamily="34" charset="-120"/>
              </a:rPr>
              <a:t>acted speech</a:t>
            </a:r>
            <a:pPr indent="0" marL="0">
              <a:lnSpc>
                <a:spcPct val="122000"/>
              </a:lnSpc>
              <a:buNone/>
            </a:pPr>
            <a:r>
              <a:rPr lang="en-US" sz="950" b="1" dirty="0">
                <a:solidFill>
                  <a:srgbClr val="0F7A84"/>
                </a:solidFill>
                <a:latin typeface="Calibri" pitchFamily="34" charset="0"/>
                <a:ea typeface="Calibri" pitchFamily="34" charset="-122"/>
                <a:cs typeface="Calibri" pitchFamily="34" charset="-120"/>
              </a:rPr>
              <a:t>   →   </a:t>
            </a:r>
            <a:pPr indent="0" marL="0">
              <a:lnSpc>
                <a:spcPct val="122000"/>
              </a:lnSpc>
              <a:buNone/>
            </a:pPr>
            <a:r>
              <a:rPr lang="en-US" sz="950" dirty="0">
                <a:solidFill>
                  <a:srgbClr val="131920"/>
                </a:solidFill>
                <a:latin typeface="Calibri" pitchFamily="34" charset="0"/>
                <a:ea typeface="Calibri" pitchFamily="34" charset="-122"/>
                <a:cs typeface="Calibri" pitchFamily="34" charset="-120"/>
              </a:rPr>
              <a:t>naturalistic podcast audio</a:t>
            </a:r>
            <a:endParaRPr lang="en-US" sz="950" dirty="0"/>
          </a:p>
          <a:p>
            <a:pPr indent="0" marL="0">
              <a:lnSpc>
                <a:spcPct val="122000"/>
              </a:lnSpc>
              <a:buNone/>
            </a:pPr>
            <a:r>
              <a:rPr lang="en-US" sz="950" strike="sngStrike" dirty="0">
                <a:solidFill>
                  <a:srgbClr val="8A94A1"/>
                </a:solidFill>
                <a:latin typeface="Calibri" pitchFamily="34" charset="0"/>
                <a:ea typeface="Calibri" pitchFamily="34" charset="-122"/>
                <a:cs typeface="Calibri" pitchFamily="34" charset="-120"/>
              </a:rPr>
              <a:t>one binary label</a:t>
            </a:r>
            <a:pPr indent="0" marL="0">
              <a:lnSpc>
                <a:spcPct val="122000"/>
              </a:lnSpc>
              <a:buNone/>
            </a:pPr>
            <a:r>
              <a:rPr lang="en-US" sz="950" b="1" dirty="0">
                <a:solidFill>
                  <a:srgbClr val="0F7A84"/>
                </a:solidFill>
                <a:latin typeface="Calibri" pitchFamily="34" charset="0"/>
                <a:ea typeface="Calibri" pitchFamily="34" charset="-122"/>
                <a:cs typeface="Calibri" pitchFamily="34" charset="-120"/>
              </a:rPr>
              <a:t>   →   </a:t>
            </a:r>
            <a:pPr indent="0" marL="0">
              <a:lnSpc>
                <a:spcPct val="122000"/>
              </a:lnSpc>
              <a:buNone/>
            </a:pPr>
            <a:r>
              <a:rPr lang="en-US" sz="950" dirty="0">
                <a:solidFill>
                  <a:srgbClr val="131920"/>
                </a:solidFill>
                <a:latin typeface="Calibri" pitchFamily="34" charset="0"/>
                <a:ea typeface="Calibri" pitchFamily="34" charset="-122"/>
                <a:cs typeface="Calibri" pitchFamily="34" charset="-120"/>
              </a:rPr>
              <a:t>stance and arousal on separate axes</a:t>
            </a:r>
            <a:endParaRPr lang="en-US" sz="950" dirty="0"/>
          </a:p>
          <a:p>
            <a:pPr indent="0" marL="0">
              <a:lnSpc>
                <a:spcPct val="122000"/>
              </a:lnSpc>
              <a:buNone/>
            </a:pPr>
            <a:r>
              <a:rPr lang="en-US" sz="950" strike="sngStrike" dirty="0">
                <a:solidFill>
                  <a:srgbClr val="8A94A1"/>
                </a:solidFill>
                <a:latin typeface="Calibri" pitchFamily="34" charset="0"/>
                <a:ea typeface="Calibri" pitchFamily="34" charset="-122"/>
                <a:cs typeface="Calibri" pitchFamily="34" charset="-120"/>
              </a:rPr>
              <a:t>no tokeniser tested</a:t>
            </a:r>
            <a:pPr indent="0" marL="0">
              <a:lnSpc>
                <a:spcPct val="122000"/>
              </a:lnSpc>
              <a:buNone/>
            </a:pPr>
            <a:r>
              <a:rPr lang="en-US" sz="950" b="1" dirty="0">
                <a:solidFill>
                  <a:srgbClr val="0F7A84"/>
                </a:solidFill>
                <a:latin typeface="Calibri" pitchFamily="34" charset="0"/>
                <a:ea typeface="Calibri" pitchFamily="34" charset="-122"/>
                <a:cs typeface="Calibri" pitchFamily="34" charset="-120"/>
              </a:rPr>
              <a:t>   →   </a:t>
            </a:r>
            <a:pPr indent="0" marL="0">
              <a:lnSpc>
                <a:spcPct val="122000"/>
              </a:lnSpc>
              <a:buNone/>
            </a:pPr>
            <a:r>
              <a:rPr lang="en-US" sz="950" dirty="0">
                <a:solidFill>
                  <a:srgbClr val="131920"/>
                </a:solidFill>
                <a:latin typeface="Calibri" pitchFamily="34" charset="0"/>
                <a:ea typeface="Calibri" pitchFamily="34" charset="-122"/>
                <a:cs typeface="Calibri" pitchFamily="34" charset="-120"/>
              </a:rPr>
              <a:t>Mimi, what deployed systems consume</a:t>
            </a:r>
            <a:endParaRPr lang="en-US" sz="950" dirty="0"/>
          </a:p>
        </p:txBody>
      </p:sp>
      <p:sp>
        <p:nvSpPr>
          <p:cNvPr id="18" name="Shape 16"/>
          <p:cNvSpPr/>
          <p:nvPr/>
        </p:nvSpPr>
        <p:spPr>
          <a:xfrm>
            <a:off x="457200" y="2578608"/>
            <a:ext cx="3703320" cy="2724912"/>
          </a:xfrm>
          <a:prstGeom prst="roundRect">
            <a:avLst>
              <a:gd name="adj" fmla="val 2013"/>
            </a:avLst>
          </a:prstGeom>
          <a:solidFill>
            <a:srgbClr val="F4F6F7"/>
          </a:solidFill>
          <a:ln w="9525">
            <a:solidFill>
              <a:srgbClr val="DDE1E7"/>
            </a:solidFill>
            <a:prstDash val="solid"/>
          </a:ln>
        </p:spPr>
      </p:sp>
      <p:sp>
        <p:nvSpPr>
          <p:cNvPr id="19" name="Text 17"/>
          <p:cNvSpPr/>
          <p:nvPr/>
        </p:nvSpPr>
        <p:spPr>
          <a:xfrm>
            <a:off x="658368" y="2697480"/>
            <a:ext cx="3300984" cy="201168"/>
          </a:xfrm>
          <a:prstGeom prst="rect">
            <a:avLst/>
          </a:prstGeom>
          <a:noFill/>
          <a:ln/>
        </p:spPr>
        <p:txBody>
          <a:bodyPr wrap="square" lIns="0" tIns="0" rIns="0" bIns="0" rtlCol="0" anchor="ctr"/>
          <a:lstStyle/>
          <a:p>
            <a:pPr indent="0" marL="0">
              <a:buNone/>
            </a:pPr>
            <a:r>
              <a:rPr lang="en-US" sz="900" b="1" spc="110" kern="0" dirty="0">
                <a:solidFill>
                  <a:srgbClr val="0F7A84"/>
                </a:solidFill>
                <a:latin typeface="Calibri" pitchFamily="34" charset="0"/>
                <a:ea typeface="Calibri" pitchFamily="34" charset="-122"/>
                <a:cs typeface="Calibri" pitchFamily="34" charset="-120"/>
              </a:rPr>
              <a:t>THE DESIGN MOVE, LEXICAL CONTROL</a:t>
            </a:r>
            <a:endParaRPr lang="en-US" sz="900" dirty="0"/>
          </a:p>
        </p:txBody>
      </p:sp>
      <p:sp>
        <p:nvSpPr>
          <p:cNvPr id="20" name="Text 18"/>
          <p:cNvSpPr/>
          <p:nvPr/>
        </p:nvSpPr>
        <p:spPr>
          <a:xfrm>
            <a:off x="658368" y="2962656"/>
            <a:ext cx="1371600" cy="502920"/>
          </a:xfrm>
          <a:prstGeom prst="rect">
            <a:avLst/>
          </a:prstGeom>
          <a:noFill/>
          <a:ln/>
        </p:spPr>
        <p:txBody>
          <a:bodyPr wrap="square" lIns="0" tIns="0" rIns="0" bIns="0" rtlCol="0" anchor="ctr"/>
          <a:lstStyle/>
          <a:p>
            <a:pPr algn="ctr" indent="0" marL="0">
              <a:buNone/>
            </a:pPr>
            <a:r>
              <a:rPr lang="en-US" sz="2800" b="1" dirty="0">
                <a:solidFill>
                  <a:srgbClr val="0F7A84"/>
                </a:solidFill>
                <a:latin typeface="Cambria" pitchFamily="34" charset="0"/>
                <a:ea typeface="Cambria" pitchFamily="34" charset="-122"/>
                <a:cs typeface="Cambria" pitchFamily="34" charset="-120"/>
              </a:rPr>
              <a:t>yeah</a:t>
            </a:r>
            <a:endParaRPr lang="en-US" sz="2800" dirty="0"/>
          </a:p>
        </p:txBody>
      </p:sp>
      <p:sp>
        <p:nvSpPr>
          <p:cNvPr id="21" name="Text 19"/>
          <p:cNvSpPr/>
          <p:nvPr/>
        </p:nvSpPr>
        <p:spPr>
          <a:xfrm>
            <a:off x="2029968" y="3099816"/>
            <a:ext cx="365760" cy="237744"/>
          </a:xfrm>
          <a:prstGeom prst="rect">
            <a:avLst/>
          </a:prstGeom>
          <a:noFill/>
          <a:ln/>
        </p:spPr>
        <p:txBody>
          <a:bodyPr wrap="square" lIns="0" tIns="0" rIns="0" bIns="0" rtlCol="0" anchor="ctr"/>
          <a:lstStyle/>
          <a:p>
            <a:pPr algn="ctr" indent="0" marL="0">
              <a:buNone/>
            </a:pPr>
            <a:r>
              <a:rPr lang="en-US" sz="1000" dirty="0">
                <a:solidFill>
                  <a:srgbClr val="8A94A1"/>
                </a:solidFill>
                <a:latin typeface="Calibri" pitchFamily="34" charset="0"/>
                <a:ea typeface="Calibri" pitchFamily="34" charset="-122"/>
                <a:cs typeface="Calibri" pitchFamily="34" charset="-120"/>
              </a:rPr>
              <a:t>vs</a:t>
            </a:r>
            <a:endParaRPr lang="en-US" sz="1000" dirty="0"/>
          </a:p>
        </p:txBody>
      </p:sp>
      <p:sp>
        <p:nvSpPr>
          <p:cNvPr id="22" name="Text 20"/>
          <p:cNvSpPr/>
          <p:nvPr/>
        </p:nvSpPr>
        <p:spPr>
          <a:xfrm>
            <a:off x="2395728" y="2962656"/>
            <a:ext cx="1371600" cy="502920"/>
          </a:xfrm>
          <a:prstGeom prst="rect">
            <a:avLst/>
          </a:prstGeom>
          <a:noFill/>
          <a:ln/>
        </p:spPr>
        <p:txBody>
          <a:bodyPr wrap="square" lIns="0" tIns="0" rIns="0" bIns="0" rtlCol="0" anchor="ctr"/>
          <a:lstStyle/>
          <a:p>
            <a:pPr algn="ctr" indent="0" marL="0">
              <a:buNone/>
            </a:pPr>
            <a:r>
              <a:rPr lang="en-US" sz="2800" b="1" i="1" dirty="0">
                <a:solidFill>
                  <a:srgbClr val="B4522F"/>
                </a:solidFill>
                <a:latin typeface="Cambria" pitchFamily="34" charset="0"/>
                <a:ea typeface="Cambria" pitchFamily="34" charset="-122"/>
                <a:cs typeface="Cambria" pitchFamily="34" charset="-120"/>
              </a:rPr>
              <a:t>yeah</a:t>
            </a:r>
            <a:endParaRPr lang="en-US" sz="2800" dirty="0"/>
          </a:p>
        </p:txBody>
      </p:sp>
      <p:sp>
        <p:nvSpPr>
          <p:cNvPr id="23" name="Text 21"/>
          <p:cNvSpPr/>
          <p:nvPr/>
        </p:nvSpPr>
        <p:spPr>
          <a:xfrm>
            <a:off x="548640" y="3483864"/>
            <a:ext cx="1591056" cy="182880"/>
          </a:xfrm>
          <a:prstGeom prst="rect">
            <a:avLst/>
          </a:prstGeom>
          <a:noFill/>
          <a:ln/>
        </p:spPr>
        <p:txBody>
          <a:bodyPr wrap="square" lIns="0" tIns="0" rIns="0" bIns="0" rtlCol="0" anchor="ctr"/>
          <a:lstStyle/>
          <a:p>
            <a:pPr algn="ctr" indent="0" marL="0">
              <a:buNone/>
            </a:pPr>
            <a:r>
              <a:rPr lang="en-US" sz="800" b="1" spc="50" kern="0" dirty="0">
                <a:solidFill>
                  <a:srgbClr val="5C6773"/>
                </a:solidFill>
                <a:latin typeface="Calibri" pitchFamily="34" charset="0"/>
                <a:ea typeface="Calibri" pitchFamily="34" charset="-122"/>
                <a:cs typeface="Calibri" pitchFamily="34" charset="-120"/>
              </a:rPr>
              <a:t>SINCERE AGREEMENT</a:t>
            </a:r>
            <a:endParaRPr lang="en-US" sz="800" dirty="0"/>
          </a:p>
        </p:txBody>
      </p:sp>
      <p:sp>
        <p:nvSpPr>
          <p:cNvPr id="24" name="Text 22"/>
          <p:cNvSpPr/>
          <p:nvPr/>
        </p:nvSpPr>
        <p:spPr>
          <a:xfrm>
            <a:off x="2286000" y="3483864"/>
            <a:ext cx="1591056" cy="182880"/>
          </a:xfrm>
          <a:prstGeom prst="rect">
            <a:avLst/>
          </a:prstGeom>
          <a:noFill/>
          <a:ln/>
        </p:spPr>
        <p:txBody>
          <a:bodyPr wrap="square" lIns="0" tIns="0" rIns="0" bIns="0" rtlCol="0" anchor="ctr"/>
          <a:lstStyle/>
          <a:p>
            <a:pPr algn="ctr" indent="0" marL="0">
              <a:buNone/>
            </a:pPr>
            <a:r>
              <a:rPr lang="en-US" sz="800" b="1" spc="50" kern="0" dirty="0">
                <a:solidFill>
                  <a:srgbClr val="5C6773"/>
                </a:solidFill>
                <a:latin typeface="Calibri" pitchFamily="34" charset="0"/>
                <a:ea typeface="Calibri" pitchFamily="34" charset="-122"/>
                <a:cs typeface="Calibri" pitchFamily="34" charset="-120"/>
              </a:rPr>
              <a:t>SARCASTIC DISMISSAL</a:t>
            </a:r>
            <a:endParaRPr lang="en-US" sz="800" dirty="0"/>
          </a:p>
        </p:txBody>
      </p:sp>
      <p:sp>
        <p:nvSpPr>
          <p:cNvPr id="25" name="Text 23"/>
          <p:cNvSpPr/>
          <p:nvPr/>
        </p:nvSpPr>
        <p:spPr>
          <a:xfrm>
            <a:off x="658368" y="3721608"/>
            <a:ext cx="3300984" cy="219456"/>
          </a:xfrm>
          <a:prstGeom prst="rect">
            <a:avLst/>
          </a:prstGeom>
          <a:noFill/>
          <a:ln/>
        </p:spPr>
        <p:txBody>
          <a:bodyPr wrap="square" lIns="0" tIns="0" rIns="0" bIns="0" rtlCol="0" anchor="ctr"/>
          <a:lstStyle/>
          <a:p>
            <a:pPr algn="ctr" indent="0" marL="0">
              <a:buNone/>
            </a:pPr>
            <a:r>
              <a:rPr lang="en-US" sz="1200" i="1" dirty="0">
                <a:solidFill>
                  <a:srgbClr val="131920"/>
                </a:solidFill>
                <a:latin typeface="Cambria" pitchFamily="34" charset="0"/>
                <a:ea typeface="Cambria" pitchFamily="34" charset="-122"/>
                <a:cs typeface="Cambria" pitchFamily="34" charset="-120"/>
              </a:rPr>
              <a:t>Identical transcript. Opposite meaning.</a:t>
            </a:r>
            <a:endParaRPr lang="en-US" sz="1200" dirty="0"/>
          </a:p>
        </p:txBody>
      </p:sp>
      <p:sp>
        <p:nvSpPr>
          <p:cNvPr id="26" name="Shape 24"/>
          <p:cNvSpPr/>
          <p:nvPr/>
        </p:nvSpPr>
        <p:spPr>
          <a:xfrm>
            <a:off x="658368" y="4005072"/>
            <a:ext cx="3300984" cy="0"/>
          </a:xfrm>
          <a:prstGeom prst="line">
            <a:avLst/>
          </a:prstGeom>
          <a:noFill/>
          <a:ln w="9525">
            <a:solidFill>
              <a:srgbClr val="DDE1E7"/>
            </a:solidFill>
            <a:prstDash val="solid"/>
          </a:ln>
        </p:spPr>
      </p:sp>
      <p:sp>
        <p:nvSpPr>
          <p:cNvPr id="27" name="Text 25"/>
          <p:cNvSpPr/>
          <p:nvPr/>
        </p:nvSpPr>
        <p:spPr>
          <a:xfrm>
            <a:off x="658368" y="4096512"/>
            <a:ext cx="731520" cy="274320"/>
          </a:xfrm>
          <a:prstGeom prst="rect">
            <a:avLst/>
          </a:prstGeom>
          <a:noFill/>
          <a:ln/>
        </p:spPr>
        <p:txBody>
          <a:bodyPr wrap="square" lIns="0" tIns="0" rIns="0" bIns="0" rtlCol="0" anchor="ctr"/>
          <a:lstStyle/>
          <a:p>
            <a:pPr algn="r" indent="0" marL="0">
              <a:buNone/>
            </a:pPr>
            <a:r>
              <a:rPr lang="en-US" sz="1500" b="1" dirty="0">
                <a:solidFill>
                  <a:srgbClr val="131920"/>
                </a:solidFill>
                <a:latin typeface="Calibri" pitchFamily="34" charset="0"/>
                <a:ea typeface="Calibri" pitchFamily="34" charset="-122"/>
                <a:cs typeface="Calibri" pitchFamily="34" charset="-120"/>
              </a:rPr>
              <a:t>7,310</a:t>
            </a:r>
            <a:endParaRPr lang="en-US" sz="1500" dirty="0"/>
          </a:p>
        </p:txBody>
      </p:sp>
      <p:sp>
        <p:nvSpPr>
          <p:cNvPr id="28" name="Text 26"/>
          <p:cNvSpPr/>
          <p:nvPr/>
        </p:nvSpPr>
        <p:spPr>
          <a:xfrm>
            <a:off x="1463040" y="4096512"/>
            <a:ext cx="2450592" cy="274320"/>
          </a:xfrm>
          <a:prstGeom prst="rect">
            <a:avLst/>
          </a:prstGeom>
          <a:noFill/>
          <a:ln/>
        </p:spPr>
        <p:txBody>
          <a:bodyPr wrap="square" lIns="0" tIns="0" rIns="0" bIns="0" rtlCol="0" anchor="ctr"/>
          <a:lstStyle/>
          <a:p>
            <a:pPr indent="0" marL="0">
              <a:buNone/>
            </a:pPr>
            <a:r>
              <a:rPr lang="en-US" sz="850" dirty="0">
                <a:solidFill>
                  <a:srgbClr val="5C6773"/>
                </a:solidFill>
                <a:latin typeface="Calibri" pitchFamily="34" charset="0"/>
                <a:ea typeface="Calibri" pitchFamily="34" charset="-122"/>
                <a:cs typeface="Calibri" pitchFamily="34" charset="-120"/>
              </a:rPr>
              <a:t>hours of podcast audio indexed, 6,281 episodes</a:t>
            </a:r>
            <a:endParaRPr lang="en-US" sz="850" dirty="0"/>
          </a:p>
        </p:txBody>
      </p:sp>
      <p:sp>
        <p:nvSpPr>
          <p:cNvPr id="29" name="Text 27"/>
          <p:cNvSpPr/>
          <p:nvPr/>
        </p:nvSpPr>
        <p:spPr>
          <a:xfrm>
            <a:off x="658368" y="4288536"/>
            <a:ext cx="731520" cy="146304"/>
          </a:xfrm>
          <a:prstGeom prst="rect">
            <a:avLst/>
          </a:prstGeom>
          <a:noFill/>
          <a:ln/>
        </p:spPr>
        <p:txBody>
          <a:bodyPr wrap="square" lIns="0" tIns="0" rIns="0" bIns="0" rtlCol="0" anchor="ctr"/>
          <a:lstStyle/>
          <a:p>
            <a:pPr algn="r" indent="0" marL="0">
              <a:buNone/>
            </a:pPr>
            <a:r>
              <a:rPr lang="en-US" sz="800" dirty="0">
                <a:solidFill>
                  <a:srgbClr val="8A94A1"/>
                </a:solidFill>
                <a:latin typeface="Calibri" pitchFamily="34" charset="0"/>
                <a:ea typeface="Calibri" pitchFamily="34" charset="-122"/>
                <a:cs typeface="Calibri" pitchFamily="34" charset="-120"/>
              </a:rPr>
              <a:t>↓</a:t>
            </a:r>
            <a:endParaRPr lang="en-US" sz="800" dirty="0"/>
          </a:p>
        </p:txBody>
      </p:sp>
      <p:sp>
        <p:nvSpPr>
          <p:cNvPr id="30" name="Text 28"/>
          <p:cNvSpPr/>
          <p:nvPr/>
        </p:nvSpPr>
        <p:spPr>
          <a:xfrm>
            <a:off x="658368" y="4425696"/>
            <a:ext cx="731520" cy="274320"/>
          </a:xfrm>
          <a:prstGeom prst="rect">
            <a:avLst/>
          </a:prstGeom>
          <a:noFill/>
          <a:ln/>
        </p:spPr>
        <p:txBody>
          <a:bodyPr wrap="square" lIns="0" tIns="0" rIns="0" bIns="0" rtlCol="0" anchor="ctr"/>
          <a:lstStyle/>
          <a:p>
            <a:pPr algn="r" indent="0" marL="0">
              <a:buNone/>
            </a:pPr>
            <a:r>
              <a:rPr lang="en-US" sz="1500" b="1" dirty="0">
                <a:solidFill>
                  <a:srgbClr val="131920"/>
                </a:solidFill>
                <a:latin typeface="Calibri" pitchFamily="34" charset="0"/>
                <a:ea typeface="Calibri" pitchFamily="34" charset="-122"/>
                <a:cs typeface="Calibri" pitchFamily="34" charset="-120"/>
              </a:rPr>
              <a:t>767k</a:t>
            </a:r>
            <a:endParaRPr lang="en-US" sz="1500" dirty="0"/>
          </a:p>
        </p:txBody>
      </p:sp>
      <p:sp>
        <p:nvSpPr>
          <p:cNvPr id="31" name="Text 29"/>
          <p:cNvSpPr/>
          <p:nvPr/>
        </p:nvSpPr>
        <p:spPr>
          <a:xfrm>
            <a:off x="1463040" y="4425696"/>
            <a:ext cx="2450592" cy="274320"/>
          </a:xfrm>
          <a:prstGeom prst="rect">
            <a:avLst/>
          </a:prstGeom>
          <a:noFill/>
          <a:ln/>
        </p:spPr>
        <p:txBody>
          <a:bodyPr wrap="square" lIns="0" tIns="0" rIns="0" bIns="0" rtlCol="0" anchor="ctr"/>
          <a:lstStyle/>
          <a:p>
            <a:pPr indent="0" marL="0">
              <a:buNone/>
            </a:pPr>
            <a:r>
              <a:rPr lang="en-US" sz="850" dirty="0">
                <a:solidFill>
                  <a:srgbClr val="5C6773"/>
                </a:solidFill>
                <a:latin typeface="Calibri" pitchFamily="34" charset="0"/>
                <a:ea typeface="Calibri" pitchFamily="34" charset="-122"/>
                <a:cs typeface="Calibri" pitchFamily="34" charset="-120"/>
              </a:rPr>
              <a:t>occurrences of the eight phrases after filtering</a:t>
            </a:r>
            <a:endParaRPr lang="en-US" sz="850" dirty="0"/>
          </a:p>
        </p:txBody>
      </p:sp>
      <p:sp>
        <p:nvSpPr>
          <p:cNvPr id="32" name="Text 30"/>
          <p:cNvSpPr/>
          <p:nvPr/>
        </p:nvSpPr>
        <p:spPr>
          <a:xfrm>
            <a:off x="658368" y="4617720"/>
            <a:ext cx="731520" cy="146304"/>
          </a:xfrm>
          <a:prstGeom prst="rect">
            <a:avLst/>
          </a:prstGeom>
          <a:noFill/>
          <a:ln/>
        </p:spPr>
        <p:txBody>
          <a:bodyPr wrap="square" lIns="0" tIns="0" rIns="0" bIns="0" rtlCol="0" anchor="ctr"/>
          <a:lstStyle/>
          <a:p>
            <a:pPr algn="r" indent="0" marL="0">
              <a:buNone/>
            </a:pPr>
            <a:r>
              <a:rPr lang="en-US" sz="800" dirty="0">
                <a:solidFill>
                  <a:srgbClr val="8A94A1"/>
                </a:solidFill>
                <a:latin typeface="Calibri" pitchFamily="34" charset="0"/>
                <a:ea typeface="Calibri" pitchFamily="34" charset="-122"/>
                <a:cs typeface="Calibri" pitchFamily="34" charset="-120"/>
              </a:rPr>
              <a:t>↓</a:t>
            </a:r>
            <a:endParaRPr lang="en-US" sz="800" dirty="0"/>
          </a:p>
        </p:txBody>
      </p:sp>
      <p:sp>
        <p:nvSpPr>
          <p:cNvPr id="33" name="Text 31"/>
          <p:cNvSpPr/>
          <p:nvPr/>
        </p:nvSpPr>
        <p:spPr>
          <a:xfrm>
            <a:off x="658368" y="4754880"/>
            <a:ext cx="731520" cy="274320"/>
          </a:xfrm>
          <a:prstGeom prst="rect">
            <a:avLst/>
          </a:prstGeom>
          <a:noFill/>
          <a:ln/>
        </p:spPr>
        <p:txBody>
          <a:bodyPr wrap="square" lIns="0" tIns="0" rIns="0" bIns="0" rtlCol="0" anchor="ctr"/>
          <a:lstStyle/>
          <a:p>
            <a:pPr algn="r" indent="0" marL="0">
              <a:buNone/>
            </a:pPr>
            <a:r>
              <a:rPr lang="en-US" sz="1500" b="1" dirty="0">
                <a:solidFill>
                  <a:srgbClr val="0F7A84"/>
                </a:solidFill>
                <a:latin typeface="Calibri" pitchFamily="34" charset="0"/>
                <a:ea typeface="Calibri" pitchFamily="34" charset="-122"/>
                <a:cs typeface="Calibri" pitchFamily="34" charset="-120"/>
              </a:rPr>
              <a:t>873</a:t>
            </a:r>
            <a:endParaRPr lang="en-US" sz="1500" dirty="0"/>
          </a:p>
        </p:txBody>
      </p:sp>
      <p:sp>
        <p:nvSpPr>
          <p:cNvPr id="34" name="Text 32"/>
          <p:cNvSpPr/>
          <p:nvPr/>
        </p:nvSpPr>
        <p:spPr>
          <a:xfrm>
            <a:off x="1463040" y="4754880"/>
            <a:ext cx="2450592" cy="274320"/>
          </a:xfrm>
          <a:prstGeom prst="rect">
            <a:avLst/>
          </a:prstGeom>
          <a:noFill/>
          <a:ln/>
        </p:spPr>
        <p:txBody>
          <a:bodyPr wrap="square" lIns="0" tIns="0" rIns="0" bIns="0" rtlCol="0" anchor="ctr"/>
          <a:lstStyle/>
          <a:p>
            <a:pPr indent="0" marL="0">
              <a:buNone/>
            </a:pPr>
            <a:r>
              <a:rPr lang="en-US" sz="850" dirty="0">
                <a:solidFill>
                  <a:srgbClr val="5C6773"/>
                </a:solidFill>
                <a:latin typeface="Calibri" pitchFamily="34" charset="0"/>
                <a:ea typeface="Calibri" pitchFamily="34" charset="-122"/>
                <a:cs typeface="Calibri" pitchFamily="34" charset="-120"/>
              </a:rPr>
              <a:t>hand-labelled clips across 753 episodes</a:t>
            </a:r>
            <a:endParaRPr lang="en-US" sz="850" dirty="0"/>
          </a:p>
        </p:txBody>
      </p:sp>
      <p:sp>
        <p:nvSpPr>
          <p:cNvPr id="35" name="Text 33"/>
          <p:cNvSpPr/>
          <p:nvPr/>
        </p:nvSpPr>
        <p:spPr>
          <a:xfrm>
            <a:off x="4370832" y="2596896"/>
            <a:ext cx="7333488" cy="201168"/>
          </a:xfrm>
          <a:prstGeom prst="rect">
            <a:avLst/>
          </a:prstGeom>
          <a:noFill/>
          <a:ln/>
        </p:spPr>
        <p:txBody>
          <a:bodyPr wrap="square" lIns="0" tIns="0" rIns="0" bIns="0" rtlCol="0" anchor="ctr"/>
          <a:lstStyle/>
          <a:p>
            <a:pPr indent="0" marL="0">
              <a:buNone/>
            </a:pPr>
            <a:r>
              <a:rPr lang="en-US" sz="900" b="1" spc="110" kern="0" dirty="0">
                <a:solidFill>
                  <a:srgbClr val="0F7A84"/>
                </a:solidFill>
                <a:latin typeface="Calibri" pitchFamily="34" charset="0"/>
                <a:ea typeface="Calibri" pitchFamily="34" charset="-122"/>
                <a:cs typeface="Calibri" pitchFamily="34" charset="-120"/>
              </a:rPr>
              <a:t>HOW WELL EACH REPRESENTATION RECOVERS SPEAKER STANCE</a:t>
            </a:r>
            <a:endParaRPr lang="en-US" sz="900" dirty="0"/>
          </a:p>
        </p:txBody>
      </p:sp>
      <p:sp>
        <p:nvSpPr>
          <p:cNvPr id="36" name="Shape 34"/>
          <p:cNvSpPr/>
          <p:nvPr/>
        </p:nvSpPr>
        <p:spPr>
          <a:xfrm>
            <a:off x="6565392" y="2843784"/>
            <a:ext cx="0" cy="1664208"/>
          </a:xfrm>
          <a:prstGeom prst="line">
            <a:avLst/>
          </a:prstGeom>
          <a:noFill/>
          <a:ln w="12700">
            <a:solidFill>
              <a:srgbClr val="DDE1E7"/>
            </a:solidFill>
            <a:prstDash val="solid"/>
          </a:ln>
        </p:spPr>
      </p:sp>
      <p:sp>
        <p:nvSpPr>
          <p:cNvPr id="37" name="Text 35"/>
          <p:cNvSpPr/>
          <p:nvPr/>
        </p:nvSpPr>
        <p:spPr>
          <a:xfrm>
            <a:off x="6336792" y="4535424"/>
            <a:ext cx="457200" cy="182880"/>
          </a:xfrm>
          <a:prstGeom prst="rect">
            <a:avLst/>
          </a:prstGeom>
          <a:noFill/>
          <a:ln/>
        </p:spPr>
        <p:txBody>
          <a:bodyPr wrap="square" lIns="0" tIns="0" rIns="0" bIns="0" rtlCol="0" anchor="ctr"/>
          <a:lstStyle/>
          <a:p>
            <a:pPr algn="ctr" indent="0" marL="0">
              <a:buNone/>
            </a:pPr>
            <a:r>
              <a:rPr lang="en-US" sz="850" dirty="0">
                <a:solidFill>
                  <a:srgbClr val="8A94A1"/>
                </a:solidFill>
                <a:latin typeface="Calibri" pitchFamily="34" charset="0"/>
                <a:ea typeface="Calibri" pitchFamily="34" charset="-122"/>
                <a:cs typeface="Calibri" pitchFamily="34" charset="-120"/>
              </a:rPr>
              <a:t>0.0</a:t>
            </a:r>
            <a:endParaRPr lang="en-US" sz="850" dirty="0"/>
          </a:p>
        </p:txBody>
      </p:sp>
      <p:sp>
        <p:nvSpPr>
          <p:cNvPr id="38" name="Shape 36"/>
          <p:cNvSpPr/>
          <p:nvPr/>
        </p:nvSpPr>
        <p:spPr>
          <a:xfrm>
            <a:off x="7907495" y="2843784"/>
            <a:ext cx="0" cy="1664208"/>
          </a:xfrm>
          <a:prstGeom prst="line">
            <a:avLst/>
          </a:prstGeom>
          <a:noFill/>
          <a:ln w="9525">
            <a:solidFill>
              <a:srgbClr val="EDEFF2"/>
            </a:solidFill>
            <a:prstDash val="solid"/>
          </a:ln>
        </p:spPr>
      </p:sp>
      <p:sp>
        <p:nvSpPr>
          <p:cNvPr id="39" name="Text 37"/>
          <p:cNvSpPr/>
          <p:nvPr/>
        </p:nvSpPr>
        <p:spPr>
          <a:xfrm>
            <a:off x="7678895" y="4535424"/>
            <a:ext cx="457200" cy="182880"/>
          </a:xfrm>
          <a:prstGeom prst="rect">
            <a:avLst/>
          </a:prstGeom>
          <a:noFill/>
          <a:ln/>
        </p:spPr>
        <p:txBody>
          <a:bodyPr wrap="square" lIns="0" tIns="0" rIns="0" bIns="0" rtlCol="0" anchor="ctr"/>
          <a:lstStyle/>
          <a:p>
            <a:pPr algn="ctr" indent="0" marL="0">
              <a:buNone/>
            </a:pPr>
            <a:r>
              <a:rPr lang="en-US" sz="850" dirty="0">
                <a:solidFill>
                  <a:srgbClr val="8A94A1"/>
                </a:solidFill>
                <a:latin typeface="Calibri" pitchFamily="34" charset="0"/>
                <a:ea typeface="Calibri" pitchFamily="34" charset="-122"/>
                <a:cs typeface="Calibri" pitchFamily="34" charset="-120"/>
              </a:rPr>
              <a:t>0.2</a:t>
            </a:r>
            <a:endParaRPr lang="en-US" sz="850" dirty="0"/>
          </a:p>
        </p:txBody>
      </p:sp>
      <p:sp>
        <p:nvSpPr>
          <p:cNvPr id="40" name="Shape 38"/>
          <p:cNvSpPr/>
          <p:nvPr/>
        </p:nvSpPr>
        <p:spPr>
          <a:xfrm>
            <a:off x="9249598" y="2843784"/>
            <a:ext cx="0" cy="1664208"/>
          </a:xfrm>
          <a:prstGeom prst="line">
            <a:avLst/>
          </a:prstGeom>
          <a:noFill/>
          <a:ln w="9525">
            <a:solidFill>
              <a:srgbClr val="EDEFF2"/>
            </a:solidFill>
            <a:prstDash val="solid"/>
          </a:ln>
        </p:spPr>
      </p:sp>
      <p:sp>
        <p:nvSpPr>
          <p:cNvPr id="41" name="Text 39"/>
          <p:cNvSpPr/>
          <p:nvPr/>
        </p:nvSpPr>
        <p:spPr>
          <a:xfrm>
            <a:off x="9020998" y="4535424"/>
            <a:ext cx="457200" cy="182880"/>
          </a:xfrm>
          <a:prstGeom prst="rect">
            <a:avLst/>
          </a:prstGeom>
          <a:noFill/>
          <a:ln/>
        </p:spPr>
        <p:txBody>
          <a:bodyPr wrap="square" lIns="0" tIns="0" rIns="0" bIns="0" rtlCol="0" anchor="ctr"/>
          <a:lstStyle/>
          <a:p>
            <a:pPr algn="ctr" indent="0" marL="0">
              <a:buNone/>
            </a:pPr>
            <a:r>
              <a:rPr lang="en-US" sz="850" dirty="0">
                <a:solidFill>
                  <a:srgbClr val="8A94A1"/>
                </a:solidFill>
                <a:latin typeface="Calibri" pitchFamily="34" charset="0"/>
                <a:ea typeface="Calibri" pitchFamily="34" charset="-122"/>
                <a:cs typeface="Calibri" pitchFamily="34" charset="-120"/>
              </a:rPr>
              <a:t>0.4</a:t>
            </a:r>
            <a:endParaRPr lang="en-US" sz="850" dirty="0"/>
          </a:p>
        </p:txBody>
      </p:sp>
      <p:sp>
        <p:nvSpPr>
          <p:cNvPr id="42" name="Shape 40"/>
          <p:cNvSpPr/>
          <p:nvPr/>
        </p:nvSpPr>
        <p:spPr>
          <a:xfrm>
            <a:off x="10591702" y="2843784"/>
            <a:ext cx="0" cy="1664208"/>
          </a:xfrm>
          <a:prstGeom prst="line">
            <a:avLst/>
          </a:prstGeom>
          <a:noFill/>
          <a:ln w="9525">
            <a:solidFill>
              <a:srgbClr val="EDEFF2"/>
            </a:solidFill>
            <a:prstDash val="solid"/>
          </a:ln>
        </p:spPr>
      </p:sp>
      <p:sp>
        <p:nvSpPr>
          <p:cNvPr id="43" name="Text 41"/>
          <p:cNvSpPr/>
          <p:nvPr/>
        </p:nvSpPr>
        <p:spPr>
          <a:xfrm>
            <a:off x="10363102" y="4535424"/>
            <a:ext cx="457200" cy="182880"/>
          </a:xfrm>
          <a:prstGeom prst="rect">
            <a:avLst/>
          </a:prstGeom>
          <a:noFill/>
          <a:ln/>
        </p:spPr>
        <p:txBody>
          <a:bodyPr wrap="square" lIns="0" tIns="0" rIns="0" bIns="0" rtlCol="0" anchor="ctr"/>
          <a:lstStyle/>
          <a:p>
            <a:pPr algn="ctr" indent="0" marL="0">
              <a:buNone/>
            </a:pPr>
            <a:r>
              <a:rPr lang="en-US" sz="850" dirty="0">
                <a:solidFill>
                  <a:srgbClr val="8A94A1"/>
                </a:solidFill>
                <a:latin typeface="Calibri" pitchFamily="34" charset="0"/>
                <a:ea typeface="Calibri" pitchFamily="34" charset="-122"/>
                <a:cs typeface="Calibri" pitchFamily="34" charset="-120"/>
              </a:rPr>
              <a:t>0.6</a:t>
            </a:r>
            <a:endParaRPr lang="en-US" sz="850" dirty="0"/>
          </a:p>
        </p:txBody>
      </p:sp>
      <p:sp>
        <p:nvSpPr>
          <p:cNvPr id="44" name="Shape 42"/>
          <p:cNvSpPr/>
          <p:nvPr/>
        </p:nvSpPr>
        <p:spPr>
          <a:xfrm>
            <a:off x="8779862" y="2816352"/>
            <a:ext cx="0" cy="1682496"/>
          </a:xfrm>
          <a:prstGeom prst="line">
            <a:avLst/>
          </a:prstGeom>
          <a:noFill/>
          <a:ln w="15875">
            <a:solidFill>
              <a:srgbClr val="B4522F"/>
            </a:solidFill>
            <a:prstDash val="dash"/>
          </a:ln>
        </p:spPr>
      </p:sp>
      <p:sp>
        <p:nvSpPr>
          <p:cNvPr id="45" name="Text 43"/>
          <p:cNvSpPr/>
          <p:nvPr/>
        </p:nvSpPr>
        <p:spPr>
          <a:xfrm>
            <a:off x="7819742" y="4718304"/>
            <a:ext cx="1920240" cy="201168"/>
          </a:xfrm>
          <a:prstGeom prst="rect">
            <a:avLst/>
          </a:prstGeom>
          <a:noFill/>
          <a:ln/>
        </p:spPr>
        <p:txBody>
          <a:bodyPr wrap="square" lIns="0" tIns="0" rIns="0" bIns="0" rtlCol="0" anchor="ctr"/>
          <a:lstStyle/>
          <a:p>
            <a:pPr algn="ctr" indent="0" marL="0">
              <a:buNone/>
            </a:pPr>
            <a:r>
              <a:rPr lang="en-US" sz="850" i="1" dirty="0">
                <a:solidFill>
                  <a:srgbClr val="B4522F"/>
                </a:solidFill>
                <a:latin typeface="Calibri" pitchFamily="34" charset="0"/>
                <a:ea typeface="Calibri" pitchFamily="34" charset="-122"/>
                <a:cs typeface="Calibri" pitchFamily="34" charset="-120"/>
              </a:rPr>
              <a:t>chance, about 0.33</a:t>
            </a:r>
            <a:endParaRPr lang="en-US" sz="850" dirty="0"/>
          </a:p>
        </p:txBody>
      </p:sp>
      <p:sp>
        <p:nvSpPr>
          <p:cNvPr id="46" name="Text 44"/>
          <p:cNvSpPr/>
          <p:nvPr/>
        </p:nvSpPr>
        <p:spPr>
          <a:xfrm>
            <a:off x="4370832" y="2871216"/>
            <a:ext cx="2103120" cy="233172"/>
          </a:xfrm>
          <a:prstGeom prst="rect">
            <a:avLst/>
          </a:prstGeom>
          <a:noFill/>
          <a:ln/>
        </p:spPr>
        <p:txBody>
          <a:bodyPr wrap="square" lIns="0" tIns="0" rIns="0" bIns="0" rtlCol="0" anchor="ctr"/>
          <a:lstStyle/>
          <a:p>
            <a:pPr algn="r" indent="0" marL="0">
              <a:buNone/>
            </a:pPr>
            <a:r>
              <a:rPr lang="en-US" sz="1000" dirty="0">
                <a:solidFill>
                  <a:srgbClr val="131920"/>
                </a:solidFill>
                <a:latin typeface="Calibri" pitchFamily="34" charset="0"/>
                <a:ea typeface="Calibri" pitchFamily="34" charset="-122"/>
                <a:cs typeface="Calibri" pitchFamily="34" charset="-120"/>
              </a:rPr>
              <a:t>WavLM</a:t>
            </a:r>
            <a:endParaRPr lang="en-US" sz="1000" dirty="0"/>
          </a:p>
        </p:txBody>
      </p:sp>
      <p:sp>
        <p:nvSpPr>
          <p:cNvPr id="47" name="Shape 45"/>
          <p:cNvSpPr/>
          <p:nvPr/>
        </p:nvSpPr>
        <p:spPr>
          <a:xfrm>
            <a:off x="6565392" y="2889504"/>
            <a:ext cx="3845126" cy="196596"/>
          </a:xfrm>
          <a:prstGeom prst="rect">
            <a:avLst/>
          </a:prstGeom>
          <a:solidFill>
            <a:srgbClr val="0F7A84"/>
          </a:solidFill>
          <a:ln w="12700">
            <a:solidFill>
              <a:srgbClr val="333333"/>
            </a:solidFill>
            <a:prstDash val="solid"/>
          </a:ln>
        </p:spPr>
      </p:sp>
      <p:sp>
        <p:nvSpPr>
          <p:cNvPr id="48" name="Text 46"/>
          <p:cNvSpPr/>
          <p:nvPr/>
        </p:nvSpPr>
        <p:spPr>
          <a:xfrm>
            <a:off x="10483670" y="2871216"/>
            <a:ext cx="777240" cy="233172"/>
          </a:xfrm>
          <a:prstGeom prst="rect">
            <a:avLst/>
          </a:prstGeom>
          <a:noFill/>
          <a:ln/>
        </p:spPr>
        <p:txBody>
          <a:bodyPr wrap="square" lIns="0" tIns="0" rIns="0" bIns="0" rtlCol="0" anchor="ctr"/>
          <a:lstStyle/>
          <a:p>
            <a:pPr indent="0" marL="0">
              <a:buNone/>
            </a:pPr>
            <a:r>
              <a:rPr lang="en-US" sz="1000" b="1" dirty="0">
                <a:solidFill>
                  <a:srgbClr val="131920"/>
                </a:solidFill>
                <a:latin typeface="Calibri" pitchFamily="34" charset="0"/>
                <a:ea typeface="Calibri" pitchFamily="34" charset="-122"/>
                <a:cs typeface="Calibri" pitchFamily="34" charset="-120"/>
              </a:rPr>
              <a:t>0.573</a:t>
            </a:r>
            <a:endParaRPr lang="en-US" sz="1000" dirty="0"/>
          </a:p>
        </p:txBody>
      </p:sp>
      <p:sp>
        <p:nvSpPr>
          <p:cNvPr id="49" name="Text 47"/>
          <p:cNvSpPr/>
          <p:nvPr/>
        </p:nvSpPr>
        <p:spPr>
          <a:xfrm>
            <a:off x="4370832" y="3145536"/>
            <a:ext cx="2103120" cy="233172"/>
          </a:xfrm>
          <a:prstGeom prst="rect">
            <a:avLst/>
          </a:prstGeom>
          <a:noFill/>
          <a:ln/>
        </p:spPr>
        <p:txBody>
          <a:bodyPr wrap="square" lIns="0" tIns="0" rIns="0" bIns="0" rtlCol="0" anchor="ctr"/>
          <a:lstStyle/>
          <a:p>
            <a:pPr algn="r" indent="0" marL="0">
              <a:buNone/>
            </a:pPr>
            <a:r>
              <a:rPr lang="en-US" sz="1000" dirty="0">
                <a:solidFill>
                  <a:srgbClr val="131920"/>
                </a:solidFill>
                <a:latin typeface="Calibri" pitchFamily="34" charset="0"/>
                <a:ea typeface="Calibri" pitchFamily="34" charset="-122"/>
                <a:cs typeface="Calibri" pitchFamily="34" charset="-120"/>
              </a:rPr>
              <a:t>Whisper encoder</a:t>
            </a:r>
            <a:endParaRPr lang="en-US" sz="1000" dirty="0"/>
          </a:p>
        </p:txBody>
      </p:sp>
      <p:sp>
        <p:nvSpPr>
          <p:cNvPr id="50" name="Shape 48"/>
          <p:cNvSpPr/>
          <p:nvPr/>
        </p:nvSpPr>
        <p:spPr>
          <a:xfrm>
            <a:off x="6565392" y="3163824"/>
            <a:ext cx="3784731" cy="196596"/>
          </a:xfrm>
          <a:prstGeom prst="rect">
            <a:avLst/>
          </a:prstGeom>
          <a:solidFill>
            <a:srgbClr val="0F7A84"/>
          </a:solidFill>
          <a:ln w="12700">
            <a:solidFill>
              <a:srgbClr val="333333"/>
            </a:solidFill>
            <a:prstDash val="solid"/>
          </a:ln>
        </p:spPr>
      </p:sp>
      <p:sp>
        <p:nvSpPr>
          <p:cNvPr id="51" name="Text 49"/>
          <p:cNvSpPr/>
          <p:nvPr/>
        </p:nvSpPr>
        <p:spPr>
          <a:xfrm>
            <a:off x="10423275" y="3145536"/>
            <a:ext cx="777240" cy="233172"/>
          </a:xfrm>
          <a:prstGeom prst="rect">
            <a:avLst/>
          </a:prstGeom>
          <a:noFill/>
          <a:ln/>
        </p:spPr>
        <p:txBody>
          <a:bodyPr wrap="square" lIns="0" tIns="0" rIns="0" bIns="0" rtlCol="0" anchor="ctr"/>
          <a:lstStyle/>
          <a:p>
            <a:pPr indent="0" marL="0">
              <a:buNone/>
            </a:pPr>
            <a:r>
              <a:rPr lang="en-US" sz="1000" b="1" dirty="0">
                <a:solidFill>
                  <a:srgbClr val="131920"/>
                </a:solidFill>
                <a:latin typeface="Calibri" pitchFamily="34" charset="0"/>
                <a:ea typeface="Calibri" pitchFamily="34" charset="-122"/>
                <a:cs typeface="Calibri" pitchFamily="34" charset="-120"/>
              </a:rPr>
              <a:t>0.564</a:t>
            </a:r>
            <a:endParaRPr lang="en-US" sz="1000" dirty="0"/>
          </a:p>
        </p:txBody>
      </p:sp>
      <p:sp>
        <p:nvSpPr>
          <p:cNvPr id="52" name="Text 50"/>
          <p:cNvSpPr/>
          <p:nvPr/>
        </p:nvSpPr>
        <p:spPr>
          <a:xfrm>
            <a:off x="4370832" y="3419856"/>
            <a:ext cx="2103120" cy="233172"/>
          </a:xfrm>
          <a:prstGeom prst="rect">
            <a:avLst/>
          </a:prstGeom>
          <a:noFill/>
          <a:ln/>
        </p:spPr>
        <p:txBody>
          <a:bodyPr wrap="square" lIns="0" tIns="0" rIns="0" bIns="0" rtlCol="0" anchor="ctr"/>
          <a:lstStyle/>
          <a:p>
            <a:pPr algn="r" indent="0" marL="0">
              <a:buNone/>
            </a:pPr>
            <a:r>
              <a:rPr lang="en-US" sz="1000" dirty="0">
                <a:solidFill>
                  <a:srgbClr val="131920"/>
                </a:solidFill>
                <a:latin typeface="Calibri" pitchFamily="34" charset="0"/>
                <a:ea typeface="Calibri" pitchFamily="34" charset="-122"/>
                <a:cs typeface="Calibri" pitchFamily="34" charset="-120"/>
              </a:rPr>
              <a:t>HuBERT</a:t>
            </a:r>
            <a:endParaRPr lang="en-US" sz="1000" dirty="0"/>
          </a:p>
        </p:txBody>
      </p:sp>
      <p:sp>
        <p:nvSpPr>
          <p:cNvPr id="53" name="Shape 51"/>
          <p:cNvSpPr/>
          <p:nvPr/>
        </p:nvSpPr>
        <p:spPr>
          <a:xfrm>
            <a:off x="6565392" y="3438144"/>
            <a:ext cx="3489468" cy="196596"/>
          </a:xfrm>
          <a:prstGeom prst="rect">
            <a:avLst/>
          </a:prstGeom>
          <a:solidFill>
            <a:srgbClr val="0F7A84"/>
          </a:solidFill>
          <a:ln w="12700">
            <a:solidFill>
              <a:srgbClr val="333333"/>
            </a:solidFill>
            <a:prstDash val="solid"/>
          </a:ln>
        </p:spPr>
      </p:sp>
      <p:sp>
        <p:nvSpPr>
          <p:cNvPr id="54" name="Text 52"/>
          <p:cNvSpPr/>
          <p:nvPr/>
        </p:nvSpPr>
        <p:spPr>
          <a:xfrm>
            <a:off x="10128012" y="3419856"/>
            <a:ext cx="777240" cy="233172"/>
          </a:xfrm>
          <a:prstGeom prst="rect">
            <a:avLst/>
          </a:prstGeom>
          <a:noFill/>
          <a:ln/>
        </p:spPr>
        <p:txBody>
          <a:bodyPr wrap="square" lIns="0" tIns="0" rIns="0" bIns="0" rtlCol="0" anchor="ctr"/>
          <a:lstStyle/>
          <a:p>
            <a:pPr indent="0" marL="0">
              <a:buNone/>
            </a:pPr>
            <a:r>
              <a:rPr lang="en-US" sz="1000" b="1" dirty="0">
                <a:solidFill>
                  <a:srgbClr val="131920"/>
                </a:solidFill>
                <a:latin typeface="Calibri" pitchFamily="34" charset="0"/>
                <a:ea typeface="Calibri" pitchFamily="34" charset="-122"/>
                <a:cs typeface="Calibri" pitchFamily="34" charset="-120"/>
              </a:rPr>
              <a:t>0.520</a:t>
            </a:r>
            <a:endParaRPr lang="en-US" sz="1000" dirty="0"/>
          </a:p>
        </p:txBody>
      </p:sp>
      <p:sp>
        <p:nvSpPr>
          <p:cNvPr id="55" name="Text 53"/>
          <p:cNvSpPr/>
          <p:nvPr/>
        </p:nvSpPr>
        <p:spPr>
          <a:xfrm>
            <a:off x="4370832" y="3694176"/>
            <a:ext cx="2103120" cy="233172"/>
          </a:xfrm>
          <a:prstGeom prst="rect">
            <a:avLst/>
          </a:prstGeom>
          <a:noFill/>
          <a:ln/>
        </p:spPr>
        <p:txBody>
          <a:bodyPr wrap="square" lIns="0" tIns="0" rIns="0" bIns="0" rtlCol="0" anchor="ctr"/>
          <a:lstStyle/>
          <a:p>
            <a:pPr algn="r" indent="0" marL="0">
              <a:buNone/>
            </a:pPr>
            <a:r>
              <a:rPr lang="en-US" sz="1000" dirty="0">
                <a:solidFill>
                  <a:srgbClr val="131920"/>
                </a:solidFill>
                <a:latin typeface="Calibri" pitchFamily="34" charset="0"/>
                <a:ea typeface="Calibri" pitchFamily="34" charset="-122"/>
                <a:cs typeface="Calibri" pitchFamily="34" charset="-120"/>
              </a:rPr>
              <a:t>Text, word only</a:t>
            </a:r>
            <a:endParaRPr lang="en-US" sz="1000" dirty="0"/>
          </a:p>
        </p:txBody>
      </p:sp>
      <p:sp>
        <p:nvSpPr>
          <p:cNvPr id="56" name="Shape 54"/>
          <p:cNvSpPr/>
          <p:nvPr/>
        </p:nvSpPr>
        <p:spPr>
          <a:xfrm>
            <a:off x="6565392" y="3712464"/>
            <a:ext cx="3268021" cy="196596"/>
          </a:xfrm>
          <a:prstGeom prst="rect">
            <a:avLst/>
          </a:prstGeom>
          <a:solidFill>
            <a:srgbClr val="94A0AE"/>
          </a:solidFill>
          <a:ln w="12700">
            <a:solidFill>
              <a:srgbClr val="333333"/>
            </a:solidFill>
            <a:prstDash val="solid"/>
          </a:ln>
        </p:spPr>
      </p:sp>
      <p:sp>
        <p:nvSpPr>
          <p:cNvPr id="57" name="Text 55"/>
          <p:cNvSpPr/>
          <p:nvPr/>
        </p:nvSpPr>
        <p:spPr>
          <a:xfrm>
            <a:off x="9906565" y="3694176"/>
            <a:ext cx="777240" cy="233172"/>
          </a:xfrm>
          <a:prstGeom prst="rect">
            <a:avLst/>
          </a:prstGeom>
          <a:noFill/>
          <a:ln/>
        </p:spPr>
        <p:txBody>
          <a:bodyPr wrap="square" lIns="0" tIns="0" rIns="0" bIns="0" rtlCol="0" anchor="ctr"/>
          <a:lstStyle/>
          <a:p>
            <a:pPr indent="0" marL="0">
              <a:buNone/>
            </a:pPr>
            <a:r>
              <a:rPr lang="en-US" sz="1000" b="1" dirty="0">
                <a:solidFill>
                  <a:srgbClr val="131920"/>
                </a:solidFill>
                <a:latin typeface="Calibri" pitchFamily="34" charset="0"/>
                <a:ea typeface="Calibri" pitchFamily="34" charset="-122"/>
                <a:cs typeface="Calibri" pitchFamily="34" charset="-120"/>
              </a:rPr>
              <a:t>0.487</a:t>
            </a:r>
            <a:endParaRPr lang="en-US" sz="1000" dirty="0"/>
          </a:p>
        </p:txBody>
      </p:sp>
      <p:sp>
        <p:nvSpPr>
          <p:cNvPr id="58" name="Text 56"/>
          <p:cNvSpPr/>
          <p:nvPr/>
        </p:nvSpPr>
        <p:spPr>
          <a:xfrm>
            <a:off x="4370832" y="3968496"/>
            <a:ext cx="2103120" cy="233172"/>
          </a:xfrm>
          <a:prstGeom prst="rect">
            <a:avLst/>
          </a:prstGeom>
          <a:noFill/>
          <a:ln/>
        </p:spPr>
        <p:txBody>
          <a:bodyPr wrap="square" lIns="0" tIns="0" rIns="0" bIns="0" rtlCol="0" anchor="ctr"/>
          <a:lstStyle/>
          <a:p>
            <a:pPr algn="r" indent="0" marL="0">
              <a:buNone/>
            </a:pPr>
            <a:r>
              <a:rPr lang="en-US" sz="1000" b="1" dirty="0">
                <a:solidFill>
                  <a:srgbClr val="B4522F"/>
                </a:solidFill>
                <a:latin typeface="Calibri" pitchFamily="34" charset="0"/>
                <a:ea typeface="Calibri" pitchFamily="34" charset="-122"/>
                <a:cs typeface="Calibri" pitchFamily="34" charset="-120"/>
              </a:rPr>
              <a:t>Mimi, deployed tokeniser</a:t>
            </a:r>
            <a:endParaRPr lang="en-US" sz="1000" dirty="0"/>
          </a:p>
        </p:txBody>
      </p:sp>
      <p:sp>
        <p:nvSpPr>
          <p:cNvPr id="59" name="Shape 57"/>
          <p:cNvSpPr/>
          <p:nvPr/>
        </p:nvSpPr>
        <p:spPr>
          <a:xfrm>
            <a:off x="6565392" y="3986784"/>
            <a:ext cx="2556707" cy="196596"/>
          </a:xfrm>
          <a:prstGeom prst="rect">
            <a:avLst/>
          </a:prstGeom>
          <a:solidFill>
            <a:srgbClr val="B4522F"/>
          </a:solidFill>
          <a:ln w="12700">
            <a:solidFill>
              <a:srgbClr val="333333"/>
            </a:solidFill>
            <a:prstDash val="solid"/>
          </a:ln>
        </p:spPr>
      </p:sp>
      <p:sp>
        <p:nvSpPr>
          <p:cNvPr id="60" name="Text 58"/>
          <p:cNvSpPr/>
          <p:nvPr/>
        </p:nvSpPr>
        <p:spPr>
          <a:xfrm>
            <a:off x="9195251" y="3968496"/>
            <a:ext cx="777240" cy="233172"/>
          </a:xfrm>
          <a:prstGeom prst="rect">
            <a:avLst/>
          </a:prstGeom>
          <a:noFill/>
          <a:ln/>
        </p:spPr>
        <p:txBody>
          <a:bodyPr wrap="square" lIns="0" tIns="0" rIns="0" bIns="0" rtlCol="0" anchor="ctr"/>
          <a:lstStyle/>
          <a:p>
            <a:pPr indent="0" marL="0">
              <a:buNone/>
            </a:pPr>
            <a:r>
              <a:rPr lang="en-US" sz="1000" b="1" dirty="0">
                <a:solidFill>
                  <a:srgbClr val="B4522F"/>
                </a:solidFill>
                <a:latin typeface="Calibri" pitchFamily="34" charset="0"/>
                <a:ea typeface="Calibri" pitchFamily="34" charset="-122"/>
                <a:cs typeface="Calibri" pitchFamily="34" charset="-120"/>
              </a:rPr>
              <a:t>0.381</a:t>
            </a:r>
            <a:endParaRPr lang="en-US" sz="1000" dirty="0"/>
          </a:p>
        </p:txBody>
      </p:sp>
      <p:sp>
        <p:nvSpPr>
          <p:cNvPr id="61" name="Text 59"/>
          <p:cNvSpPr/>
          <p:nvPr/>
        </p:nvSpPr>
        <p:spPr>
          <a:xfrm>
            <a:off x="4370832" y="4242816"/>
            <a:ext cx="2103120" cy="233172"/>
          </a:xfrm>
          <a:prstGeom prst="rect">
            <a:avLst/>
          </a:prstGeom>
          <a:noFill/>
          <a:ln/>
        </p:spPr>
        <p:txBody>
          <a:bodyPr wrap="square" lIns="0" tIns="0" rIns="0" bIns="0" rtlCol="0" anchor="ctr"/>
          <a:lstStyle/>
          <a:p>
            <a:pPr algn="r" indent="0" marL="0">
              <a:buNone/>
            </a:pPr>
            <a:r>
              <a:rPr lang="en-US" sz="1000" dirty="0">
                <a:solidFill>
                  <a:srgbClr val="131920"/>
                </a:solidFill>
                <a:latin typeface="Calibri" pitchFamily="34" charset="0"/>
                <a:ea typeface="Calibri" pitchFamily="34" charset="-122"/>
                <a:cs typeface="Calibri" pitchFamily="34" charset="-120"/>
              </a:rPr>
              <a:t>Text, with context</a:t>
            </a:r>
            <a:endParaRPr lang="en-US" sz="1000" dirty="0"/>
          </a:p>
        </p:txBody>
      </p:sp>
      <p:sp>
        <p:nvSpPr>
          <p:cNvPr id="62" name="Shape 60"/>
          <p:cNvSpPr/>
          <p:nvPr/>
        </p:nvSpPr>
        <p:spPr>
          <a:xfrm>
            <a:off x="6565392" y="4261104"/>
            <a:ext cx="2536575" cy="196596"/>
          </a:xfrm>
          <a:prstGeom prst="rect">
            <a:avLst/>
          </a:prstGeom>
          <a:solidFill>
            <a:srgbClr val="94A0AE"/>
          </a:solidFill>
          <a:ln w="12700">
            <a:solidFill>
              <a:srgbClr val="333333"/>
            </a:solidFill>
            <a:prstDash val="solid"/>
          </a:ln>
        </p:spPr>
      </p:sp>
      <p:sp>
        <p:nvSpPr>
          <p:cNvPr id="63" name="Text 61"/>
          <p:cNvSpPr/>
          <p:nvPr/>
        </p:nvSpPr>
        <p:spPr>
          <a:xfrm>
            <a:off x="9175119" y="4242816"/>
            <a:ext cx="777240" cy="233172"/>
          </a:xfrm>
          <a:prstGeom prst="rect">
            <a:avLst/>
          </a:prstGeom>
          <a:noFill/>
          <a:ln/>
        </p:spPr>
        <p:txBody>
          <a:bodyPr wrap="square" lIns="0" tIns="0" rIns="0" bIns="0" rtlCol="0" anchor="ctr"/>
          <a:lstStyle/>
          <a:p>
            <a:pPr indent="0" marL="0">
              <a:buNone/>
            </a:pPr>
            <a:r>
              <a:rPr lang="en-US" sz="1000" b="1" dirty="0">
                <a:solidFill>
                  <a:srgbClr val="131920"/>
                </a:solidFill>
                <a:latin typeface="Calibri" pitchFamily="34" charset="0"/>
                <a:ea typeface="Calibri" pitchFamily="34" charset="-122"/>
                <a:cs typeface="Calibri" pitchFamily="34" charset="-120"/>
              </a:rPr>
              <a:t>0.378</a:t>
            </a:r>
            <a:endParaRPr lang="en-US" sz="1000" dirty="0"/>
          </a:p>
        </p:txBody>
      </p:sp>
      <p:sp>
        <p:nvSpPr>
          <p:cNvPr id="64" name="Shape 62"/>
          <p:cNvSpPr/>
          <p:nvPr/>
        </p:nvSpPr>
        <p:spPr>
          <a:xfrm>
            <a:off x="4370832" y="4974336"/>
            <a:ext cx="3566160" cy="914400"/>
          </a:xfrm>
          <a:prstGeom prst="roundRect">
            <a:avLst>
              <a:gd name="adj" fmla="val 5000"/>
            </a:avLst>
          </a:prstGeom>
          <a:solidFill>
            <a:srgbClr val="FFFFFF"/>
          </a:solidFill>
          <a:ln w="9525">
            <a:solidFill>
              <a:srgbClr val="DDE1E7"/>
            </a:solidFill>
            <a:prstDash val="solid"/>
          </a:ln>
        </p:spPr>
      </p:sp>
      <p:sp>
        <p:nvSpPr>
          <p:cNvPr id="65" name="Shape 63"/>
          <p:cNvSpPr/>
          <p:nvPr/>
        </p:nvSpPr>
        <p:spPr>
          <a:xfrm>
            <a:off x="8138160" y="4974336"/>
            <a:ext cx="3566160" cy="914400"/>
          </a:xfrm>
          <a:prstGeom prst="roundRect">
            <a:avLst>
              <a:gd name="adj" fmla="val 5000"/>
            </a:avLst>
          </a:prstGeom>
          <a:solidFill>
            <a:srgbClr val="FFFFFF"/>
          </a:solidFill>
          <a:ln w="9525">
            <a:solidFill>
              <a:srgbClr val="DDE1E7"/>
            </a:solidFill>
            <a:prstDash val="solid"/>
          </a:ln>
        </p:spPr>
      </p:sp>
      <p:sp>
        <p:nvSpPr>
          <p:cNvPr id="66" name="Text 64"/>
          <p:cNvSpPr/>
          <p:nvPr/>
        </p:nvSpPr>
        <p:spPr>
          <a:xfrm>
            <a:off x="4507992" y="5047488"/>
            <a:ext cx="3291840" cy="768096"/>
          </a:xfrm>
          <a:prstGeom prst="rect">
            <a:avLst/>
          </a:prstGeom>
          <a:noFill/>
          <a:ln/>
        </p:spPr>
        <p:txBody>
          <a:bodyPr wrap="square" lIns="0" tIns="0" rIns="0" bIns="0" rtlCol="0" anchor="ctr"/>
          <a:lstStyle/>
          <a:p>
            <a:pPr indent="0" marL="0">
              <a:lnSpc>
                <a:spcPct val="106000"/>
              </a:lnSpc>
              <a:buNone/>
            </a:pPr>
            <a:r>
              <a:rPr lang="en-US" sz="900" b="1" dirty="0">
                <a:solidFill>
                  <a:srgbClr val="131920"/>
                </a:solidFill>
                <a:latin typeface="Calibri" pitchFamily="34" charset="0"/>
                <a:ea typeface="Calibri" pitchFamily="34" charset="-122"/>
                <a:cs typeface="Calibri" pitchFamily="34" charset="-120"/>
              </a:rPr>
              <a:t>How to read this.  </a:t>
            </a:r>
            <a:pPr indent="0" marL="0">
              <a:lnSpc>
                <a:spcPct val="106000"/>
              </a:lnSpc>
              <a:buNone/>
            </a:pPr>
            <a:r>
              <a:rPr lang="en-US" sz="900" dirty="0">
                <a:solidFill>
                  <a:srgbClr val="5C6773"/>
                </a:solidFill>
                <a:latin typeface="Calibri" pitchFamily="34" charset="0"/>
                <a:ea typeface="Calibri" pitchFamily="34" charset="-122"/>
                <a:cs typeface="Calibri" pitchFamily="34" charset="-120"/>
              </a:rPr>
              <a:t>Each bar is how accurately a simple classifier recovers the speaker's stance (affiliative, neutral or adversarial) from that representation alone, scored by macro-F1. The dashed line is chance, the score the same probe reaches on shuffled labels, so the distance beyond it is the signal.</a:t>
            </a:r>
            <a:endParaRPr lang="en-US" sz="900" dirty="0"/>
          </a:p>
        </p:txBody>
      </p:sp>
      <p:sp>
        <p:nvSpPr>
          <p:cNvPr id="67" name="Text 65"/>
          <p:cNvSpPr/>
          <p:nvPr/>
        </p:nvSpPr>
        <p:spPr>
          <a:xfrm>
            <a:off x="8275320" y="5047488"/>
            <a:ext cx="3291840" cy="768096"/>
          </a:xfrm>
          <a:prstGeom prst="rect">
            <a:avLst/>
          </a:prstGeom>
          <a:noFill/>
          <a:ln/>
        </p:spPr>
        <p:txBody>
          <a:bodyPr wrap="square" lIns="0" tIns="0" rIns="0" bIns="0" rtlCol="0" anchor="ctr"/>
          <a:lstStyle/>
          <a:p>
            <a:pPr indent="0" marL="0">
              <a:lnSpc>
                <a:spcPct val="106000"/>
              </a:lnSpc>
              <a:buNone/>
            </a:pPr>
            <a:r>
              <a:rPr lang="en-US" sz="900" b="1" dirty="0">
                <a:solidFill>
                  <a:srgbClr val="131920"/>
                </a:solidFill>
                <a:latin typeface="Calibri" pitchFamily="34" charset="0"/>
                <a:ea typeface="Calibri" pitchFamily="34" charset="-122"/>
                <a:cs typeface="Calibri" pitchFamily="34" charset="-120"/>
              </a:rPr>
              <a:t>Why these five.  </a:t>
            </a:r>
            <a:pPr indent="0" marL="0">
              <a:lnSpc>
                <a:spcPct val="106000"/>
              </a:lnSpc>
              <a:buNone/>
            </a:pPr>
            <a:r>
              <a:rPr lang="en-US" sz="900" dirty="0">
                <a:solidFill>
                  <a:srgbClr val="5C6773"/>
                </a:solidFill>
                <a:latin typeface="Calibri" pitchFamily="34" charset="0"/>
                <a:ea typeface="Calibri" pitchFamily="34" charset="-122"/>
                <a:cs typeface="Calibri" pitchFamily="34" charset="-120"/>
              </a:rPr>
              <a:t>Each pair isolates one variable. </a:t>
            </a:r>
            <a:pPr indent="0" marL="0">
              <a:lnSpc>
                <a:spcPct val="106000"/>
              </a:lnSpc>
              <a:buNone/>
            </a:pPr>
            <a:r>
              <a:rPr lang="en-US" sz="900" b="1" dirty="0">
                <a:solidFill>
                  <a:srgbClr val="0F7A84"/>
                </a:solidFill>
                <a:latin typeface="Calibri" pitchFamily="34" charset="0"/>
                <a:ea typeface="Calibri" pitchFamily="34" charset="-122"/>
                <a:cs typeface="Calibri" pitchFamily="34" charset="-120"/>
              </a:rPr>
              <a:t>WavLM</a:t>
            </a:r>
            <a:pPr indent="0" marL="0">
              <a:lnSpc>
                <a:spcPct val="106000"/>
              </a:lnSpc>
              <a:buNone/>
            </a:pPr>
            <a:r>
              <a:rPr lang="en-US" sz="900" dirty="0">
                <a:solidFill>
                  <a:srgbClr val="5C6773"/>
                </a:solidFill>
                <a:latin typeface="Calibri" pitchFamily="34" charset="0"/>
                <a:ea typeface="Calibri" pitchFamily="34" charset="-122"/>
                <a:cs typeface="Calibri" pitchFamily="34" charset="-120"/>
              </a:rPr>
              <a:t> and </a:t>
            </a:r>
            <a:pPr indent="0" marL="0">
              <a:lnSpc>
                <a:spcPct val="106000"/>
              </a:lnSpc>
              <a:buNone/>
            </a:pPr>
            <a:r>
              <a:rPr lang="en-US" sz="900" b="1" dirty="0">
                <a:solidFill>
                  <a:srgbClr val="0F7A84"/>
                </a:solidFill>
                <a:latin typeface="Calibri" pitchFamily="34" charset="0"/>
                <a:ea typeface="Calibri" pitchFamily="34" charset="-122"/>
                <a:cs typeface="Calibri" pitchFamily="34" charset="-120"/>
              </a:rPr>
              <a:t>HuBERT</a:t>
            </a:r>
            <a:pPr indent="0" marL="0">
              <a:lnSpc>
                <a:spcPct val="106000"/>
              </a:lnSpc>
              <a:buNone/>
            </a:pPr>
            <a:r>
              <a:rPr lang="en-US" sz="900" dirty="0">
                <a:solidFill>
                  <a:srgbClr val="5C6773"/>
                </a:solidFill>
                <a:latin typeface="Calibri" pitchFamily="34" charset="0"/>
                <a:ea typeface="Calibri" pitchFamily="34" charset="-122"/>
                <a:cs typeface="Calibri" pitchFamily="34" charset="-120"/>
              </a:rPr>
              <a:t> are both self-supervised, so no result rests on one model. </a:t>
            </a:r>
            <a:pPr indent="0" marL="0">
              <a:lnSpc>
                <a:spcPct val="106000"/>
              </a:lnSpc>
              <a:buNone/>
            </a:pPr>
            <a:r>
              <a:rPr lang="en-US" sz="900" b="1" dirty="0">
                <a:solidFill>
                  <a:srgbClr val="0F7A84"/>
                </a:solidFill>
                <a:latin typeface="Calibri" pitchFamily="34" charset="0"/>
                <a:ea typeface="Calibri" pitchFamily="34" charset="-122"/>
                <a:cs typeface="Calibri" pitchFamily="34" charset="-120"/>
              </a:rPr>
              <a:t>Whisper</a:t>
            </a:r>
            <a:pPr indent="0" marL="0">
              <a:lnSpc>
                <a:spcPct val="106000"/>
              </a:lnSpc>
              <a:buNone/>
            </a:pPr>
            <a:r>
              <a:rPr lang="en-US" sz="900" dirty="0">
                <a:solidFill>
                  <a:srgbClr val="5C6773"/>
                </a:solidFill>
                <a:latin typeface="Calibri" pitchFamily="34" charset="0"/>
                <a:ea typeface="Calibri" pitchFamily="34" charset="-122"/>
                <a:cs typeface="Calibri" pitchFamily="34" charset="-120"/>
              </a:rPr>
              <a:t> is the same continuous form trained to transcribe, isolating what an ASR objective costs. </a:t>
            </a:r>
            <a:pPr indent="0" marL="0">
              <a:lnSpc>
                <a:spcPct val="106000"/>
              </a:lnSpc>
              <a:buNone/>
            </a:pPr>
            <a:r>
              <a:rPr lang="en-US" sz="900" b="1" dirty="0">
                <a:solidFill>
                  <a:srgbClr val="B4522F"/>
                </a:solidFill>
                <a:latin typeface="Calibri" pitchFamily="34" charset="0"/>
                <a:ea typeface="Calibri" pitchFamily="34" charset="-122"/>
                <a:cs typeface="Calibri" pitchFamily="34" charset="-120"/>
              </a:rPr>
              <a:t>Mimi</a:t>
            </a:r>
            <a:pPr indent="0" marL="0">
              <a:lnSpc>
                <a:spcPct val="106000"/>
              </a:lnSpc>
              <a:buNone/>
            </a:pPr>
            <a:r>
              <a:rPr lang="en-US" sz="900" dirty="0">
                <a:solidFill>
                  <a:srgbClr val="5C6773"/>
                </a:solidFill>
                <a:latin typeface="Calibri" pitchFamily="34" charset="0"/>
                <a:ea typeface="Calibri" pitchFamily="34" charset="-122"/>
                <a:cs typeface="Calibri" pitchFamily="34" charset="-120"/>
              </a:rPr>
              <a:t> has its first codebook distilled from WavLM, so quantisation is measured against its own teacher. </a:t>
            </a:r>
            <a:pPr indent="0" marL="0">
              <a:lnSpc>
                <a:spcPct val="106000"/>
              </a:lnSpc>
              <a:buNone/>
            </a:pPr>
            <a:r>
              <a:rPr lang="en-US" sz="900" b="1" dirty="0">
                <a:solidFill>
                  <a:srgbClr val="7C8896"/>
                </a:solidFill>
                <a:latin typeface="Calibri" pitchFamily="34" charset="0"/>
                <a:ea typeface="Calibri" pitchFamily="34" charset="-122"/>
                <a:cs typeface="Calibri" pitchFamily="34" charset="-120"/>
              </a:rPr>
              <a:t>Text</a:t>
            </a:r>
            <a:pPr indent="0" marL="0">
              <a:lnSpc>
                <a:spcPct val="106000"/>
              </a:lnSpc>
              <a:buNone/>
            </a:pPr>
            <a:r>
              <a:rPr lang="en-US" sz="900" dirty="0">
                <a:solidFill>
                  <a:srgbClr val="5C6773"/>
                </a:solidFill>
                <a:latin typeface="Calibri" pitchFamily="34" charset="0"/>
                <a:ea typeface="Calibri" pitchFamily="34" charset="-122"/>
                <a:cs typeface="Calibri" pitchFamily="34" charset="-120"/>
              </a:rPr>
              <a:t> appears twice, as a check and as the real baseline.</a:t>
            </a:r>
            <a:endParaRPr lang="en-US" sz="900" dirty="0"/>
          </a:p>
        </p:txBody>
      </p:sp>
      <p:sp>
        <p:nvSpPr>
          <p:cNvPr id="68" name="Shape 66"/>
          <p:cNvSpPr/>
          <p:nvPr/>
        </p:nvSpPr>
        <p:spPr>
          <a:xfrm>
            <a:off x="457200" y="5980176"/>
            <a:ext cx="11247120" cy="640080"/>
          </a:xfrm>
          <a:prstGeom prst="roundRect">
            <a:avLst>
              <a:gd name="adj" fmla="val 8571"/>
            </a:avLst>
          </a:prstGeom>
          <a:solidFill>
            <a:srgbClr val="EAF2F3"/>
          </a:solidFill>
          <a:ln w="9525">
            <a:solidFill>
              <a:srgbClr val="CBE0E2"/>
            </a:solidFill>
            <a:prstDash val="solid"/>
          </a:ln>
        </p:spPr>
      </p:sp>
      <p:sp>
        <p:nvSpPr>
          <p:cNvPr id="69" name="Text 67"/>
          <p:cNvSpPr/>
          <p:nvPr/>
        </p:nvSpPr>
        <p:spPr>
          <a:xfrm>
            <a:off x="658368" y="6071616"/>
            <a:ext cx="10881360" cy="475488"/>
          </a:xfrm>
          <a:prstGeom prst="rect">
            <a:avLst/>
          </a:prstGeom>
          <a:noFill/>
          <a:ln/>
        </p:spPr>
        <p:txBody>
          <a:bodyPr wrap="square" lIns="0" tIns="0" rIns="0" bIns="0" rtlCol="0" anchor="ctr"/>
          <a:lstStyle/>
          <a:p>
            <a:pPr indent="0" marL="0">
              <a:lnSpc>
                <a:spcPct val="105000"/>
              </a:lnSpc>
              <a:buNone/>
            </a:pPr>
            <a:r>
              <a:rPr lang="en-US" sz="1150" b="1" dirty="0">
                <a:solidFill>
                  <a:srgbClr val="0F7A84"/>
                </a:solidFill>
                <a:latin typeface="Calibri" pitchFamily="34" charset="0"/>
                <a:ea typeface="Calibri" pitchFamily="34" charset="-122"/>
                <a:cs typeface="Calibri" pitchFamily="34" charset="-120"/>
              </a:rPr>
              <a:t>Finding.   </a:t>
            </a:r>
            <a:pPr indent="0" marL="0">
              <a:lnSpc>
                <a:spcPct val="105000"/>
              </a:lnSpc>
              <a:buNone/>
            </a:pPr>
            <a:r>
              <a:rPr lang="en-US" sz="1150" dirty="0">
                <a:solidFill>
                  <a:srgbClr val="131920"/>
                </a:solidFill>
                <a:latin typeface="Calibri" pitchFamily="34" charset="0"/>
                <a:ea typeface="Calibri" pitchFamily="34" charset="-122"/>
                <a:cs typeface="Calibri" pitchFamily="34" charset="-120"/>
              </a:rPr>
              <a:t>Continuous representations preserve pragmatic stance, and it holds at matched arousal, on speakers the probe never trained on, and within each word, where WavLM reaches 0.659 against 0.534 for text. The discrete tokens deployed systems actually consume sit barely above chance.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Pragmatic Contrast in Speech Representations</dc:title>
  <dc:subject>PptxGenJS Presentation</dc:subject>
  <dc:creator>Caroline Swartz</dc:creator>
  <cp:lastModifiedBy>Caroline Swartz</cp:lastModifiedBy>
  <cp:revision>1</cp:revision>
  <dcterms:created xsi:type="dcterms:W3CDTF">2026-07-30T09:55:00Z</dcterms:created>
  <dcterms:modified xsi:type="dcterms:W3CDTF">2026-07-30T09:55:00Z</dcterms:modified>
</cp:coreProperties>
</file>