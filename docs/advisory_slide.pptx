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Systems such as Moshi convert speech into discrete tokens before any language model sees it, so whatever the tokeniser discards is unavailable downstream. If it discards pragmatic force, a system can recover every word correctly and still misread how the speaker meant them.
WHAT "PROBING" MEANS
The pretrained models are frozen, meaning never updated. We extract representations once and train only a small linear classifier on top, so any accuracy reflects what the representation already encodes rather than what a model learned for the task.
DATA
873 labelled clips across eight phrases (yeah, okay, right, sure, great, fine, really, come on), 753 episodes, 32 shows. Naturalistic political podcast audio rather than acted emotion corpora. Stance and arousal were labelled on independent axes so the arousal confound could be tested directly.
HUMAN PREMISE CHECK, RUN BEFORE ANY MODELLING
Two auxiliary annotators judged a counterbalanced 60-clip subset. Audio plus transcript reached 0.73 accuracy against 0.65 for transcript with discourse context, on a three-way chance of 0.33. So the contrast is partly text-recoverable but audio adds a real increment.
ROBUSTNESS
Matched arousal. Stance is still decoded within each arousal level separately, so the probe is not simply reading loudness.
Speaker held out. Grouping folds by show rather than episode moves WavLM only from 0.573 to 0.530, so it is not riding speaker identity.
Non-independence. All scores are out of fold under GroupKFold by episode, with episode-cluster bootstrap intervals and 200-permutation tests. Every representation beats chance at p at most 0.01.
WHERE THE CONTRAST LIVES
WavLM peaks at layer 20 of 24 and falls away above it, consistent with upper layers shedding paralinguistics. Whisper plateaus across its top third. Inside Mimi the loss is not localised, since refinement codebooks 1 to 7 each score between 0.33 and 0.37 and stacking them adds nothing.
CAVEATS TO RAISE
Pooled target-only text sits above chance only because the eight phrases differ in stance base rate, which is why the within-word figure is the clean lexical control.
Mimi is significantly above chance, so the honest claim is that default tokenisation loses most of the contrast, not all of it. The loss is recoverable with deliberate effort, but deployed systems use the defaults.
The training-free contrast-preservation score points the same way but is underpowered at 191 decisions and sensitive to the distance metric, so it is reported as corroborating only.
NEXT
Probe Mimi codebook 0, the WavLM-distilled stream, which was not extracted in the first run. It is the one remaining untested possibility for where pragmatic information might survive inside the tokeniser.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11247120" cy="548640"/>
          </a:xfrm>
          <a:prstGeom prst="rect">
            <a:avLst/>
          </a:prstGeom>
          <a:noFill/>
          <a:ln/>
        </p:spPr>
        <p:txBody>
          <a:bodyPr wrap="square" lIns="0" tIns="0" rIns="0" bIns="0" rtlCol="0" anchor="ctr"/>
          <a:lstStyle/>
          <a:p>
            <a:pPr indent="0" marL="0">
              <a:buNone/>
            </a:pPr>
            <a:r>
              <a:rPr lang="en-US" sz="2700" b="1" dirty="0">
                <a:solidFill>
                  <a:srgbClr val="131920"/>
                </a:solidFill>
                <a:latin typeface="Cambria" pitchFamily="34" charset="0"/>
                <a:ea typeface="Cambria" pitchFamily="34" charset="-122"/>
                <a:cs typeface="Cambria" pitchFamily="34" charset="-120"/>
              </a:rPr>
              <a:t>Transcript-Equivalent Pragmatic Contrast in Speech Representations</a:t>
            </a:r>
            <a:endParaRPr lang="en-US" sz="2700" dirty="0"/>
          </a:p>
        </p:txBody>
      </p:sp>
      <p:sp>
        <p:nvSpPr>
          <p:cNvPr id="3" name="Text 1"/>
          <p:cNvSpPr/>
          <p:nvPr/>
        </p:nvSpPr>
        <p:spPr>
          <a:xfrm>
            <a:off x="457200" y="850392"/>
            <a:ext cx="11247120" cy="384048"/>
          </a:xfrm>
          <a:prstGeom prst="rect">
            <a:avLst/>
          </a:prstGeom>
          <a:noFill/>
          <a:ln/>
        </p:spPr>
        <p:txBody>
          <a:bodyPr wrap="square" lIns="0" tIns="0" rIns="0" bIns="0" rtlCol="0" anchor="ctr"/>
          <a:lstStyle/>
          <a:p>
            <a:pPr indent="0" marL="0">
              <a:buNone/>
            </a:pPr>
            <a:r>
              <a:rPr lang="en-US" sz="1450" i="1" dirty="0">
                <a:solidFill>
                  <a:srgbClr val="0F7A84"/>
                </a:solidFill>
                <a:latin typeface="Cambria" pitchFamily="34" charset="0"/>
                <a:ea typeface="Cambria" pitchFamily="34" charset="-122"/>
                <a:cs typeface="Cambria" pitchFamily="34" charset="-120"/>
              </a:rPr>
              <a:t>Deployed speech-to-speech systems never hear audio. They hear discrete tokens. Do those tokens still carry what a speaker meant?</a:t>
            </a:r>
            <a:endParaRPr lang="en-US" sz="1450" dirty="0"/>
          </a:p>
        </p:txBody>
      </p:sp>
      <p:sp>
        <p:nvSpPr>
          <p:cNvPr id="4" name="Text 2"/>
          <p:cNvSpPr/>
          <p:nvPr/>
        </p:nvSpPr>
        <p:spPr>
          <a:xfrm>
            <a:off x="457200" y="1216152"/>
            <a:ext cx="11247120" cy="256032"/>
          </a:xfrm>
          <a:prstGeom prst="rect">
            <a:avLst/>
          </a:prstGeom>
          <a:noFill/>
          <a:ln/>
        </p:spPr>
        <p:txBody>
          <a:bodyPr wrap="square" lIns="0" tIns="0" rIns="0" bIns="0" rtlCol="0" anchor="ctr"/>
          <a:lstStyle/>
          <a:p>
            <a:pPr indent="0" marL="0">
              <a:buNone/>
            </a:pPr>
            <a:r>
              <a:rPr lang="en-US" sz="1000" spc="60" kern="0" dirty="0">
                <a:solidFill>
                  <a:srgbClr val="8A94A1"/>
                </a:solidFill>
                <a:latin typeface="Calibri" pitchFamily="34" charset="0"/>
                <a:ea typeface="Calibri" pitchFamily="34" charset="-122"/>
                <a:cs typeface="Calibri" pitchFamily="34" charset="-120"/>
              </a:rPr>
              <a:t>MSc Computational Linguistics, UCL   |   Track A, Pragmatic Contrast Preservation   |   Advisory group, July 2026</a:t>
            </a:r>
            <a:endParaRPr lang="en-US" sz="1000" dirty="0"/>
          </a:p>
        </p:txBody>
      </p:sp>
      <p:sp>
        <p:nvSpPr>
          <p:cNvPr id="5" name="Shape 3"/>
          <p:cNvSpPr/>
          <p:nvPr/>
        </p:nvSpPr>
        <p:spPr>
          <a:xfrm>
            <a:off x="457200" y="1627632"/>
            <a:ext cx="3703320" cy="4023360"/>
          </a:xfrm>
          <a:prstGeom prst="roundRect">
            <a:avLst>
              <a:gd name="adj" fmla="val 1481"/>
            </a:avLst>
          </a:prstGeom>
          <a:solidFill>
            <a:srgbClr val="F4F6F7"/>
          </a:solidFill>
          <a:ln w="9525">
            <a:solidFill>
              <a:srgbClr val="DDE1E7"/>
            </a:solidFill>
            <a:prstDash val="solid"/>
          </a:ln>
        </p:spPr>
      </p:sp>
      <p:sp>
        <p:nvSpPr>
          <p:cNvPr id="6" name="Text 4"/>
          <p:cNvSpPr/>
          <p:nvPr/>
        </p:nvSpPr>
        <p:spPr>
          <a:xfrm>
            <a:off x="658368" y="1773936"/>
            <a:ext cx="3300984" cy="219456"/>
          </a:xfrm>
          <a:prstGeom prst="rect">
            <a:avLst/>
          </a:prstGeom>
          <a:noFill/>
          <a:ln/>
        </p:spPr>
        <p:txBody>
          <a:bodyPr wrap="square" lIns="0" tIns="0" rIns="0" bIns="0" rtlCol="0" anchor="ctr"/>
          <a:lstStyle/>
          <a:p>
            <a:pPr indent="0" marL="0">
              <a:buNone/>
            </a:pPr>
            <a:r>
              <a:rPr lang="en-US" sz="950" b="1" spc="110" kern="0" dirty="0">
                <a:solidFill>
                  <a:srgbClr val="0F7A84"/>
                </a:solidFill>
                <a:latin typeface="Calibri" pitchFamily="34" charset="0"/>
                <a:ea typeface="Calibri" pitchFamily="34" charset="-122"/>
                <a:cs typeface="Calibri" pitchFamily="34" charset="-120"/>
              </a:rPr>
              <a:t>THE DESIGN MOVE, LEXICAL CONTROL</a:t>
            </a:r>
            <a:endParaRPr lang="en-US" sz="950" dirty="0"/>
          </a:p>
        </p:txBody>
      </p:sp>
      <p:sp>
        <p:nvSpPr>
          <p:cNvPr id="7" name="Text 5"/>
          <p:cNvSpPr/>
          <p:nvPr/>
        </p:nvSpPr>
        <p:spPr>
          <a:xfrm>
            <a:off x="658368" y="2103120"/>
            <a:ext cx="1371600" cy="566928"/>
          </a:xfrm>
          <a:prstGeom prst="rect">
            <a:avLst/>
          </a:prstGeom>
          <a:noFill/>
          <a:ln/>
        </p:spPr>
        <p:txBody>
          <a:bodyPr wrap="square" lIns="0" tIns="0" rIns="0" bIns="0" rtlCol="0" anchor="ctr"/>
          <a:lstStyle/>
          <a:p>
            <a:pPr algn="ctr" indent="0" marL="0">
              <a:buNone/>
            </a:pPr>
            <a:r>
              <a:rPr lang="en-US" sz="3200" b="1" dirty="0">
                <a:solidFill>
                  <a:srgbClr val="0F7A84"/>
                </a:solidFill>
                <a:latin typeface="Cambria" pitchFamily="34" charset="0"/>
                <a:ea typeface="Cambria" pitchFamily="34" charset="-122"/>
                <a:cs typeface="Cambria" pitchFamily="34" charset="-120"/>
              </a:rPr>
              <a:t>yeah</a:t>
            </a:r>
            <a:endParaRPr lang="en-US" sz="3200" dirty="0"/>
          </a:p>
        </p:txBody>
      </p:sp>
      <p:sp>
        <p:nvSpPr>
          <p:cNvPr id="8" name="Text 6"/>
          <p:cNvSpPr/>
          <p:nvPr/>
        </p:nvSpPr>
        <p:spPr>
          <a:xfrm>
            <a:off x="2029968" y="2267712"/>
            <a:ext cx="365760" cy="274320"/>
          </a:xfrm>
          <a:prstGeom prst="rect">
            <a:avLst/>
          </a:prstGeom>
          <a:noFill/>
          <a:ln/>
        </p:spPr>
        <p:txBody>
          <a:bodyPr wrap="square" lIns="0" tIns="0" rIns="0" bIns="0" rtlCol="0" anchor="ctr"/>
          <a:lstStyle/>
          <a:p>
            <a:pPr algn="ctr" indent="0" marL="0">
              <a:buNone/>
            </a:pPr>
            <a:r>
              <a:rPr lang="en-US" sz="1100" dirty="0">
                <a:solidFill>
                  <a:srgbClr val="8A94A1"/>
                </a:solidFill>
                <a:latin typeface="Calibri" pitchFamily="34" charset="0"/>
                <a:ea typeface="Calibri" pitchFamily="34" charset="-122"/>
                <a:cs typeface="Calibri" pitchFamily="34" charset="-120"/>
              </a:rPr>
              <a:t>vs</a:t>
            </a:r>
            <a:endParaRPr lang="en-US" sz="1100" dirty="0"/>
          </a:p>
        </p:txBody>
      </p:sp>
      <p:sp>
        <p:nvSpPr>
          <p:cNvPr id="9" name="Text 7"/>
          <p:cNvSpPr/>
          <p:nvPr/>
        </p:nvSpPr>
        <p:spPr>
          <a:xfrm>
            <a:off x="2395728" y="2103120"/>
            <a:ext cx="1371600" cy="566928"/>
          </a:xfrm>
          <a:prstGeom prst="rect">
            <a:avLst/>
          </a:prstGeom>
          <a:noFill/>
          <a:ln/>
        </p:spPr>
        <p:txBody>
          <a:bodyPr wrap="square" lIns="0" tIns="0" rIns="0" bIns="0" rtlCol="0" anchor="ctr"/>
          <a:lstStyle/>
          <a:p>
            <a:pPr algn="ctr" indent="0" marL="0">
              <a:buNone/>
            </a:pPr>
            <a:r>
              <a:rPr lang="en-US" sz="3200" b="1" i="1" dirty="0">
                <a:solidFill>
                  <a:srgbClr val="B4522F"/>
                </a:solidFill>
                <a:latin typeface="Cambria" pitchFamily="34" charset="0"/>
                <a:ea typeface="Cambria" pitchFamily="34" charset="-122"/>
                <a:cs typeface="Cambria" pitchFamily="34" charset="-120"/>
              </a:rPr>
              <a:t>yeah</a:t>
            </a:r>
            <a:endParaRPr lang="en-US" sz="3200" dirty="0"/>
          </a:p>
        </p:txBody>
      </p:sp>
      <p:sp>
        <p:nvSpPr>
          <p:cNvPr id="10" name="Text 8"/>
          <p:cNvSpPr/>
          <p:nvPr/>
        </p:nvSpPr>
        <p:spPr>
          <a:xfrm>
            <a:off x="548640" y="2670048"/>
            <a:ext cx="1591056" cy="201168"/>
          </a:xfrm>
          <a:prstGeom prst="rect">
            <a:avLst/>
          </a:prstGeom>
          <a:noFill/>
          <a:ln/>
        </p:spPr>
        <p:txBody>
          <a:bodyPr wrap="square" lIns="0" tIns="0" rIns="0" bIns="0" rtlCol="0" anchor="ctr"/>
          <a:lstStyle/>
          <a:p>
            <a:pPr algn="ctr" indent="0" marL="0">
              <a:buNone/>
            </a:pPr>
            <a:r>
              <a:rPr lang="en-US" sz="850" b="1" spc="50" kern="0" dirty="0">
                <a:solidFill>
                  <a:srgbClr val="5C6773"/>
                </a:solidFill>
                <a:latin typeface="Calibri" pitchFamily="34" charset="0"/>
                <a:ea typeface="Calibri" pitchFamily="34" charset="-122"/>
                <a:cs typeface="Calibri" pitchFamily="34" charset="-120"/>
              </a:rPr>
              <a:t>SINCERE AGREEMENT</a:t>
            </a:r>
            <a:endParaRPr lang="en-US" sz="850" dirty="0"/>
          </a:p>
        </p:txBody>
      </p:sp>
      <p:sp>
        <p:nvSpPr>
          <p:cNvPr id="11" name="Text 9"/>
          <p:cNvSpPr/>
          <p:nvPr/>
        </p:nvSpPr>
        <p:spPr>
          <a:xfrm>
            <a:off x="2286000" y="2670048"/>
            <a:ext cx="1591056" cy="201168"/>
          </a:xfrm>
          <a:prstGeom prst="rect">
            <a:avLst/>
          </a:prstGeom>
          <a:noFill/>
          <a:ln/>
        </p:spPr>
        <p:txBody>
          <a:bodyPr wrap="square" lIns="0" tIns="0" rIns="0" bIns="0" rtlCol="0" anchor="ctr"/>
          <a:lstStyle/>
          <a:p>
            <a:pPr algn="ctr" indent="0" marL="0">
              <a:buNone/>
            </a:pPr>
            <a:r>
              <a:rPr lang="en-US" sz="850" b="1" spc="50" kern="0" dirty="0">
                <a:solidFill>
                  <a:srgbClr val="5C6773"/>
                </a:solidFill>
                <a:latin typeface="Calibri" pitchFamily="34" charset="0"/>
                <a:ea typeface="Calibri" pitchFamily="34" charset="-122"/>
                <a:cs typeface="Calibri" pitchFamily="34" charset="-120"/>
              </a:rPr>
              <a:t>SARCASTIC DISMISSAL</a:t>
            </a:r>
            <a:endParaRPr lang="en-US" sz="850" dirty="0"/>
          </a:p>
        </p:txBody>
      </p:sp>
      <p:sp>
        <p:nvSpPr>
          <p:cNvPr id="12" name="Text 10"/>
          <p:cNvSpPr/>
          <p:nvPr/>
        </p:nvSpPr>
        <p:spPr>
          <a:xfrm>
            <a:off x="658368" y="2962656"/>
            <a:ext cx="3300984" cy="237744"/>
          </a:xfrm>
          <a:prstGeom prst="rect">
            <a:avLst/>
          </a:prstGeom>
          <a:noFill/>
          <a:ln/>
        </p:spPr>
        <p:txBody>
          <a:bodyPr wrap="square" lIns="0" tIns="0" rIns="0" bIns="0" rtlCol="0" anchor="ctr"/>
          <a:lstStyle/>
          <a:p>
            <a:pPr algn="ctr" indent="0" marL="0">
              <a:buNone/>
            </a:pPr>
            <a:r>
              <a:rPr lang="en-US" sz="1250" i="1" dirty="0">
                <a:solidFill>
                  <a:srgbClr val="131920"/>
                </a:solidFill>
                <a:latin typeface="Cambria" pitchFamily="34" charset="0"/>
                <a:ea typeface="Cambria" pitchFamily="34" charset="-122"/>
                <a:cs typeface="Cambria" pitchFamily="34" charset="-120"/>
              </a:rPr>
              <a:t>Identical transcript. Opposite meaning.</a:t>
            </a:r>
            <a:endParaRPr lang="en-US" sz="1250" dirty="0"/>
          </a:p>
        </p:txBody>
      </p:sp>
      <p:sp>
        <p:nvSpPr>
          <p:cNvPr id="13" name="Text 11"/>
          <p:cNvSpPr/>
          <p:nvPr/>
        </p:nvSpPr>
        <p:spPr>
          <a:xfrm>
            <a:off x="658368" y="3291840"/>
            <a:ext cx="3300984" cy="1170432"/>
          </a:xfrm>
          <a:prstGeom prst="rect">
            <a:avLst/>
          </a:prstGeom>
          <a:noFill/>
          <a:ln/>
        </p:spPr>
        <p:txBody>
          <a:bodyPr wrap="square" lIns="0" tIns="0" rIns="0" bIns="0" rtlCol="0" anchor="ctr"/>
          <a:lstStyle/>
          <a:p>
            <a:pPr indent="0" marL="0">
              <a:lnSpc>
                <a:spcPct val="112000"/>
              </a:lnSpc>
              <a:buNone/>
            </a:pPr>
            <a:r>
              <a:rPr lang="en-US" sz="1100" dirty="0">
                <a:solidFill>
                  <a:srgbClr val="5C6773"/>
                </a:solidFill>
                <a:latin typeface="Calibri" pitchFamily="34" charset="0"/>
                <a:ea typeface="Calibri" pitchFamily="34" charset="-122"/>
                <a:cs typeface="Calibri" pitchFamily="34" charset="-120"/>
              </a:rPr>
              <a:t>Earlier work showed speech beats text on pragmatic tasks, but the utterances also differed in wording, so delivery stayed confounded with word choice. Holding the word constant removes that explanation. Whatever a probe recovers has to come from how it was said.</a:t>
            </a:r>
            <a:endParaRPr lang="en-US" sz="1100" dirty="0"/>
          </a:p>
        </p:txBody>
      </p:sp>
      <p:sp>
        <p:nvSpPr>
          <p:cNvPr id="14" name="Text 12"/>
          <p:cNvSpPr/>
          <p:nvPr/>
        </p:nvSpPr>
        <p:spPr>
          <a:xfrm>
            <a:off x="658368" y="4590288"/>
            <a:ext cx="1078992" cy="310896"/>
          </a:xfrm>
          <a:prstGeom prst="rect">
            <a:avLst/>
          </a:prstGeom>
          <a:noFill/>
          <a:ln/>
        </p:spPr>
        <p:txBody>
          <a:bodyPr wrap="square" lIns="0" tIns="0" rIns="0" bIns="0" rtlCol="0" anchor="ctr"/>
          <a:lstStyle/>
          <a:p>
            <a:pPr indent="0" marL="0">
              <a:buNone/>
            </a:pPr>
            <a:r>
              <a:rPr lang="en-US" sz="1900" b="1" dirty="0">
                <a:solidFill>
                  <a:srgbClr val="131920"/>
                </a:solidFill>
                <a:latin typeface="Calibri" pitchFamily="34" charset="0"/>
                <a:ea typeface="Calibri" pitchFamily="34" charset="-122"/>
                <a:cs typeface="Calibri" pitchFamily="34" charset="-120"/>
              </a:rPr>
              <a:t>873</a:t>
            </a:r>
            <a:endParaRPr lang="en-US" sz="1900" dirty="0"/>
          </a:p>
        </p:txBody>
      </p:sp>
      <p:sp>
        <p:nvSpPr>
          <p:cNvPr id="15" name="Text 13"/>
          <p:cNvSpPr/>
          <p:nvPr/>
        </p:nvSpPr>
        <p:spPr>
          <a:xfrm>
            <a:off x="658368" y="4901184"/>
            <a:ext cx="1078992" cy="420624"/>
          </a:xfrm>
          <a:prstGeom prst="rect">
            <a:avLst/>
          </a:prstGeom>
          <a:noFill/>
          <a:ln/>
        </p:spPr>
        <p:txBody>
          <a:bodyPr wrap="square" lIns="0" tIns="0" rIns="0" bIns="0" rtlCol="0" anchor="ctr"/>
          <a:lstStyle/>
          <a:p>
            <a:pPr indent="0" marL="0">
              <a:buNone/>
            </a:pPr>
            <a:r>
              <a:rPr lang="en-US" sz="900" dirty="0">
                <a:solidFill>
                  <a:srgbClr val="5C6773"/>
                </a:solidFill>
                <a:latin typeface="Calibri" pitchFamily="34" charset="0"/>
                <a:ea typeface="Calibri" pitchFamily="34" charset="-122"/>
                <a:cs typeface="Calibri" pitchFamily="34" charset="-120"/>
              </a:rPr>
              <a:t>labelled clips</a:t>
            </a:r>
            <a:endParaRPr lang="en-US" sz="900" dirty="0"/>
          </a:p>
        </p:txBody>
      </p:sp>
      <p:sp>
        <p:nvSpPr>
          <p:cNvPr id="16" name="Text 14"/>
          <p:cNvSpPr/>
          <p:nvPr/>
        </p:nvSpPr>
        <p:spPr>
          <a:xfrm>
            <a:off x="1773936" y="4590288"/>
            <a:ext cx="1078992" cy="310896"/>
          </a:xfrm>
          <a:prstGeom prst="rect">
            <a:avLst/>
          </a:prstGeom>
          <a:noFill/>
          <a:ln/>
        </p:spPr>
        <p:txBody>
          <a:bodyPr wrap="square" lIns="0" tIns="0" rIns="0" bIns="0" rtlCol="0" anchor="ctr"/>
          <a:lstStyle/>
          <a:p>
            <a:pPr indent="0" marL="0">
              <a:buNone/>
            </a:pPr>
            <a:r>
              <a:rPr lang="en-US" sz="1900" b="1" dirty="0">
                <a:solidFill>
                  <a:srgbClr val="131920"/>
                </a:solidFill>
                <a:latin typeface="Calibri" pitchFamily="34" charset="0"/>
                <a:ea typeface="Calibri" pitchFamily="34" charset="-122"/>
                <a:cs typeface="Calibri" pitchFamily="34" charset="-120"/>
              </a:rPr>
              <a:t>8</a:t>
            </a:r>
            <a:endParaRPr lang="en-US" sz="1900" dirty="0"/>
          </a:p>
        </p:txBody>
      </p:sp>
      <p:sp>
        <p:nvSpPr>
          <p:cNvPr id="17" name="Text 15"/>
          <p:cNvSpPr/>
          <p:nvPr/>
        </p:nvSpPr>
        <p:spPr>
          <a:xfrm>
            <a:off x="1773936" y="4901184"/>
            <a:ext cx="1078992" cy="420624"/>
          </a:xfrm>
          <a:prstGeom prst="rect">
            <a:avLst/>
          </a:prstGeom>
          <a:noFill/>
          <a:ln/>
        </p:spPr>
        <p:txBody>
          <a:bodyPr wrap="square" lIns="0" tIns="0" rIns="0" bIns="0" rtlCol="0" anchor="ctr"/>
          <a:lstStyle/>
          <a:p>
            <a:pPr indent="0" marL="0">
              <a:buNone/>
            </a:pPr>
            <a:r>
              <a:rPr lang="en-US" sz="900" dirty="0">
                <a:solidFill>
                  <a:srgbClr val="5C6773"/>
                </a:solidFill>
                <a:latin typeface="Calibri" pitchFamily="34" charset="0"/>
                <a:ea typeface="Calibri" pitchFamily="34" charset="-122"/>
                <a:cs typeface="Calibri" pitchFamily="34" charset="-120"/>
              </a:rPr>
              <a:t>target phrases</a:t>
            </a:r>
            <a:endParaRPr lang="en-US" sz="900" dirty="0"/>
          </a:p>
        </p:txBody>
      </p:sp>
      <p:sp>
        <p:nvSpPr>
          <p:cNvPr id="18" name="Text 16"/>
          <p:cNvSpPr/>
          <p:nvPr/>
        </p:nvSpPr>
        <p:spPr>
          <a:xfrm>
            <a:off x="2889504" y="4590288"/>
            <a:ext cx="1078992" cy="310896"/>
          </a:xfrm>
          <a:prstGeom prst="rect">
            <a:avLst/>
          </a:prstGeom>
          <a:noFill/>
          <a:ln/>
        </p:spPr>
        <p:txBody>
          <a:bodyPr wrap="square" lIns="0" tIns="0" rIns="0" bIns="0" rtlCol="0" anchor="ctr"/>
          <a:lstStyle/>
          <a:p>
            <a:pPr indent="0" marL="0">
              <a:buNone/>
            </a:pPr>
            <a:r>
              <a:rPr lang="en-US" sz="1900" b="1" dirty="0">
                <a:solidFill>
                  <a:srgbClr val="131920"/>
                </a:solidFill>
                <a:latin typeface="Calibri" pitchFamily="34" charset="0"/>
                <a:ea typeface="Calibri" pitchFamily="34" charset="-122"/>
                <a:cs typeface="Calibri" pitchFamily="34" charset="-120"/>
              </a:rPr>
              <a:t>32</a:t>
            </a:r>
            <a:endParaRPr lang="en-US" sz="1900" dirty="0"/>
          </a:p>
        </p:txBody>
      </p:sp>
      <p:sp>
        <p:nvSpPr>
          <p:cNvPr id="19" name="Text 17"/>
          <p:cNvSpPr/>
          <p:nvPr/>
        </p:nvSpPr>
        <p:spPr>
          <a:xfrm>
            <a:off x="2889504" y="4901184"/>
            <a:ext cx="1078992" cy="420624"/>
          </a:xfrm>
          <a:prstGeom prst="rect">
            <a:avLst/>
          </a:prstGeom>
          <a:noFill/>
          <a:ln/>
        </p:spPr>
        <p:txBody>
          <a:bodyPr wrap="square" lIns="0" tIns="0" rIns="0" bIns="0" rtlCol="0" anchor="ctr"/>
          <a:lstStyle/>
          <a:p>
            <a:pPr indent="0" marL="0">
              <a:buNone/>
            </a:pPr>
            <a:r>
              <a:rPr lang="en-US" sz="900" dirty="0">
                <a:solidFill>
                  <a:srgbClr val="5C6773"/>
                </a:solidFill>
                <a:latin typeface="Calibri" pitchFamily="34" charset="0"/>
                <a:ea typeface="Calibri" pitchFamily="34" charset="-122"/>
                <a:cs typeface="Calibri" pitchFamily="34" charset="-120"/>
              </a:rPr>
              <a:t>shows, 753 episodes</a:t>
            </a:r>
            <a:endParaRPr lang="en-US" sz="900" dirty="0"/>
          </a:p>
        </p:txBody>
      </p:sp>
      <p:sp>
        <p:nvSpPr>
          <p:cNvPr id="20" name="Text 18"/>
          <p:cNvSpPr/>
          <p:nvPr/>
        </p:nvSpPr>
        <p:spPr>
          <a:xfrm>
            <a:off x="4370832" y="1645920"/>
            <a:ext cx="7333488" cy="219456"/>
          </a:xfrm>
          <a:prstGeom prst="rect">
            <a:avLst/>
          </a:prstGeom>
          <a:noFill/>
          <a:ln/>
        </p:spPr>
        <p:txBody>
          <a:bodyPr wrap="square" lIns="0" tIns="0" rIns="0" bIns="0" rtlCol="0" anchor="ctr"/>
          <a:lstStyle/>
          <a:p>
            <a:pPr indent="0" marL="0">
              <a:buNone/>
            </a:pPr>
            <a:r>
              <a:rPr lang="en-US" sz="950" b="1" spc="110" kern="0" dirty="0">
                <a:solidFill>
                  <a:srgbClr val="0F7A84"/>
                </a:solidFill>
                <a:latin typeface="Calibri" pitchFamily="34" charset="0"/>
                <a:ea typeface="Calibri" pitchFamily="34" charset="-122"/>
                <a:cs typeface="Calibri" pitchFamily="34" charset="-120"/>
              </a:rPr>
              <a:t>HOW WELL EACH REPRESENTATION RECOVERS SPEAKER STANCE</a:t>
            </a:r>
            <a:endParaRPr lang="en-US" sz="950" dirty="0"/>
          </a:p>
        </p:txBody>
      </p:sp>
      <p:sp>
        <p:nvSpPr>
          <p:cNvPr id="21" name="Shape 19"/>
          <p:cNvSpPr/>
          <p:nvPr/>
        </p:nvSpPr>
        <p:spPr>
          <a:xfrm>
            <a:off x="6565392" y="1911096"/>
            <a:ext cx="0" cy="2162556"/>
          </a:xfrm>
          <a:prstGeom prst="line">
            <a:avLst/>
          </a:prstGeom>
          <a:noFill/>
          <a:ln w="12700">
            <a:solidFill>
              <a:srgbClr val="DDE1E7"/>
            </a:solidFill>
            <a:prstDash val="solid"/>
          </a:ln>
        </p:spPr>
      </p:sp>
      <p:sp>
        <p:nvSpPr>
          <p:cNvPr id="22" name="Text 20"/>
          <p:cNvSpPr/>
          <p:nvPr/>
        </p:nvSpPr>
        <p:spPr>
          <a:xfrm>
            <a:off x="6336792" y="4101084"/>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0.0</a:t>
            </a:r>
            <a:endParaRPr lang="en-US" sz="850" dirty="0"/>
          </a:p>
        </p:txBody>
      </p:sp>
      <p:sp>
        <p:nvSpPr>
          <p:cNvPr id="23" name="Shape 21"/>
          <p:cNvSpPr/>
          <p:nvPr/>
        </p:nvSpPr>
        <p:spPr>
          <a:xfrm>
            <a:off x="7907495" y="1911096"/>
            <a:ext cx="0" cy="2162556"/>
          </a:xfrm>
          <a:prstGeom prst="line">
            <a:avLst/>
          </a:prstGeom>
          <a:noFill/>
          <a:ln w="9525">
            <a:solidFill>
              <a:srgbClr val="EDEFF2"/>
            </a:solidFill>
            <a:prstDash val="solid"/>
          </a:ln>
        </p:spPr>
      </p:sp>
      <p:sp>
        <p:nvSpPr>
          <p:cNvPr id="24" name="Text 22"/>
          <p:cNvSpPr/>
          <p:nvPr/>
        </p:nvSpPr>
        <p:spPr>
          <a:xfrm>
            <a:off x="7678895" y="4101084"/>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0.2</a:t>
            </a:r>
            <a:endParaRPr lang="en-US" sz="850" dirty="0"/>
          </a:p>
        </p:txBody>
      </p:sp>
      <p:sp>
        <p:nvSpPr>
          <p:cNvPr id="25" name="Shape 23"/>
          <p:cNvSpPr/>
          <p:nvPr/>
        </p:nvSpPr>
        <p:spPr>
          <a:xfrm>
            <a:off x="9249598" y="1911096"/>
            <a:ext cx="0" cy="2162556"/>
          </a:xfrm>
          <a:prstGeom prst="line">
            <a:avLst/>
          </a:prstGeom>
          <a:noFill/>
          <a:ln w="9525">
            <a:solidFill>
              <a:srgbClr val="EDEFF2"/>
            </a:solidFill>
            <a:prstDash val="solid"/>
          </a:ln>
        </p:spPr>
      </p:sp>
      <p:sp>
        <p:nvSpPr>
          <p:cNvPr id="26" name="Text 24"/>
          <p:cNvSpPr/>
          <p:nvPr/>
        </p:nvSpPr>
        <p:spPr>
          <a:xfrm>
            <a:off x="9020998" y="4101084"/>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0.4</a:t>
            </a:r>
            <a:endParaRPr lang="en-US" sz="850" dirty="0"/>
          </a:p>
        </p:txBody>
      </p:sp>
      <p:sp>
        <p:nvSpPr>
          <p:cNvPr id="27" name="Shape 25"/>
          <p:cNvSpPr/>
          <p:nvPr/>
        </p:nvSpPr>
        <p:spPr>
          <a:xfrm>
            <a:off x="10591702" y="1911096"/>
            <a:ext cx="0" cy="2162556"/>
          </a:xfrm>
          <a:prstGeom prst="line">
            <a:avLst/>
          </a:prstGeom>
          <a:noFill/>
          <a:ln w="9525">
            <a:solidFill>
              <a:srgbClr val="EDEFF2"/>
            </a:solidFill>
            <a:prstDash val="solid"/>
          </a:ln>
        </p:spPr>
      </p:sp>
      <p:sp>
        <p:nvSpPr>
          <p:cNvPr id="28" name="Text 26"/>
          <p:cNvSpPr/>
          <p:nvPr/>
        </p:nvSpPr>
        <p:spPr>
          <a:xfrm>
            <a:off x="10363102" y="4101084"/>
            <a:ext cx="457200" cy="201168"/>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0.6</a:t>
            </a:r>
            <a:endParaRPr lang="en-US" sz="850" dirty="0"/>
          </a:p>
        </p:txBody>
      </p:sp>
      <p:sp>
        <p:nvSpPr>
          <p:cNvPr id="29" name="Text 27"/>
          <p:cNvSpPr/>
          <p:nvPr/>
        </p:nvSpPr>
        <p:spPr>
          <a:xfrm>
            <a:off x="4370832" y="1938528"/>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WavLM</a:t>
            </a:r>
            <a:endParaRPr lang="en-US" sz="1050" dirty="0"/>
          </a:p>
        </p:txBody>
      </p:sp>
      <p:sp>
        <p:nvSpPr>
          <p:cNvPr id="30" name="Shape 28"/>
          <p:cNvSpPr/>
          <p:nvPr/>
        </p:nvSpPr>
        <p:spPr>
          <a:xfrm>
            <a:off x="6565392" y="1956816"/>
            <a:ext cx="3845126" cy="214884"/>
          </a:xfrm>
          <a:prstGeom prst="rect">
            <a:avLst/>
          </a:prstGeom>
          <a:solidFill>
            <a:srgbClr val="0F7A84"/>
          </a:solidFill>
          <a:ln w="12700">
            <a:solidFill>
              <a:srgbClr val="333333"/>
            </a:solidFill>
            <a:prstDash val="solid"/>
          </a:ln>
        </p:spPr>
      </p:sp>
      <p:sp>
        <p:nvSpPr>
          <p:cNvPr id="31" name="Text 29"/>
          <p:cNvSpPr/>
          <p:nvPr/>
        </p:nvSpPr>
        <p:spPr>
          <a:xfrm>
            <a:off x="10483670" y="1938528"/>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0.573</a:t>
            </a:r>
            <a:endParaRPr lang="en-US" sz="1050" dirty="0"/>
          </a:p>
        </p:txBody>
      </p:sp>
      <p:sp>
        <p:nvSpPr>
          <p:cNvPr id="32" name="Text 30"/>
          <p:cNvSpPr/>
          <p:nvPr/>
        </p:nvSpPr>
        <p:spPr>
          <a:xfrm>
            <a:off x="4370832" y="2244852"/>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Whisper encoder</a:t>
            </a:r>
            <a:endParaRPr lang="en-US" sz="1050" dirty="0"/>
          </a:p>
        </p:txBody>
      </p:sp>
      <p:sp>
        <p:nvSpPr>
          <p:cNvPr id="33" name="Shape 31"/>
          <p:cNvSpPr/>
          <p:nvPr/>
        </p:nvSpPr>
        <p:spPr>
          <a:xfrm>
            <a:off x="6565392" y="2263140"/>
            <a:ext cx="3784731" cy="214884"/>
          </a:xfrm>
          <a:prstGeom prst="rect">
            <a:avLst/>
          </a:prstGeom>
          <a:solidFill>
            <a:srgbClr val="0F7A84"/>
          </a:solidFill>
          <a:ln w="12700">
            <a:solidFill>
              <a:srgbClr val="333333"/>
            </a:solidFill>
            <a:prstDash val="solid"/>
          </a:ln>
        </p:spPr>
      </p:sp>
      <p:sp>
        <p:nvSpPr>
          <p:cNvPr id="34" name="Text 32"/>
          <p:cNvSpPr/>
          <p:nvPr/>
        </p:nvSpPr>
        <p:spPr>
          <a:xfrm>
            <a:off x="10423275" y="2244852"/>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0.564</a:t>
            </a:r>
            <a:endParaRPr lang="en-US" sz="1050" dirty="0"/>
          </a:p>
        </p:txBody>
      </p:sp>
      <p:sp>
        <p:nvSpPr>
          <p:cNvPr id="35" name="Text 33"/>
          <p:cNvSpPr/>
          <p:nvPr/>
        </p:nvSpPr>
        <p:spPr>
          <a:xfrm>
            <a:off x="4370832" y="2551176"/>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HuBERT</a:t>
            </a:r>
            <a:endParaRPr lang="en-US" sz="1050" dirty="0"/>
          </a:p>
        </p:txBody>
      </p:sp>
      <p:sp>
        <p:nvSpPr>
          <p:cNvPr id="36" name="Shape 34"/>
          <p:cNvSpPr/>
          <p:nvPr/>
        </p:nvSpPr>
        <p:spPr>
          <a:xfrm>
            <a:off x="6565392" y="2569464"/>
            <a:ext cx="3489468" cy="214884"/>
          </a:xfrm>
          <a:prstGeom prst="rect">
            <a:avLst/>
          </a:prstGeom>
          <a:solidFill>
            <a:srgbClr val="0F7A84"/>
          </a:solidFill>
          <a:ln w="12700">
            <a:solidFill>
              <a:srgbClr val="333333"/>
            </a:solidFill>
            <a:prstDash val="solid"/>
          </a:ln>
        </p:spPr>
      </p:sp>
      <p:sp>
        <p:nvSpPr>
          <p:cNvPr id="37" name="Text 35"/>
          <p:cNvSpPr/>
          <p:nvPr/>
        </p:nvSpPr>
        <p:spPr>
          <a:xfrm>
            <a:off x="10128012" y="2551176"/>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0.520</a:t>
            </a:r>
            <a:endParaRPr lang="en-US" sz="1050" dirty="0"/>
          </a:p>
        </p:txBody>
      </p:sp>
      <p:sp>
        <p:nvSpPr>
          <p:cNvPr id="38" name="Text 36"/>
          <p:cNvSpPr/>
          <p:nvPr/>
        </p:nvSpPr>
        <p:spPr>
          <a:xfrm>
            <a:off x="4370832" y="2857500"/>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Text, word only</a:t>
            </a:r>
            <a:endParaRPr lang="en-US" sz="1050" dirty="0"/>
          </a:p>
        </p:txBody>
      </p:sp>
      <p:sp>
        <p:nvSpPr>
          <p:cNvPr id="39" name="Shape 37"/>
          <p:cNvSpPr/>
          <p:nvPr/>
        </p:nvSpPr>
        <p:spPr>
          <a:xfrm>
            <a:off x="6565392" y="2875788"/>
            <a:ext cx="3268021" cy="214884"/>
          </a:xfrm>
          <a:prstGeom prst="rect">
            <a:avLst/>
          </a:prstGeom>
          <a:solidFill>
            <a:srgbClr val="94A0AE"/>
          </a:solidFill>
          <a:ln w="12700">
            <a:solidFill>
              <a:srgbClr val="333333"/>
            </a:solidFill>
            <a:prstDash val="solid"/>
          </a:ln>
        </p:spPr>
      </p:sp>
      <p:sp>
        <p:nvSpPr>
          <p:cNvPr id="40" name="Text 38"/>
          <p:cNvSpPr/>
          <p:nvPr/>
        </p:nvSpPr>
        <p:spPr>
          <a:xfrm>
            <a:off x="9906565" y="2857500"/>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0.487</a:t>
            </a:r>
            <a:endParaRPr lang="en-US" sz="1050" dirty="0"/>
          </a:p>
        </p:txBody>
      </p:sp>
      <p:sp>
        <p:nvSpPr>
          <p:cNvPr id="41" name="Text 39"/>
          <p:cNvSpPr/>
          <p:nvPr/>
        </p:nvSpPr>
        <p:spPr>
          <a:xfrm>
            <a:off x="4370832" y="3163824"/>
            <a:ext cx="2103120" cy="251460"/>
          </a:xfrm>
          <a:prstGeom prst="rect">
            <a:avLst/>
          </a:prstGeom>
          <a:noFill/>
          <a:ln/>
        </p:spPr>
        <p:txBody>
          <a:bodyPr wrap="square" lIns="0" tIns="0" rIns="0" bIns="0" rtlCol="0" anchor="ctr"/>
          <a:lstStyle/>
          <a:p>
            <a:pPr algn="r" indent="0" marL="0">
              <a:buNone/>
            </a:pPr>
            <a:r>
              <a:rPr lang="en-US" sz="1050" dirty="0">
                <a:solidFill>
                  <a:srgbClr val="131920"/>
                </a:solidFill>
                <a:latin typeface="Calibri" pitchFamily="34" charset="0"/>
                <a:ea typeface="Calibri" pitchFamily="34" charset="-122"/>
                <a:cs typeface="Calibri" pitchFamily="34" charset="-120"/>
              </a:rPr>
              <a:t>Text, with context</a:t>
            </a:r>
            <a:endParaRPr lang="en-US" sz="1050" dirty="0"/>
          </a:p>
        </p:txBody>
      </p:sp>
      <p:sp>
        <p:nvSpPr>
          <p:cNvPr id="42" name="Shape 40"/>
          <p:cNvSpPr/>
          <p:nvPr/>
        </p:nvSpPr>
        <p:spPr>
          <a:xfrm>
            <a:off x="6565392" y="3182112"/>
            <a:ext cx="2536575" cy="214884"/>
          </a:xfrm>
          <a:prstGeom prst="rect">
            <a:avLst/>
          </a:prstGeom>
          <a:solidFill>
            <a:srgbClr val="94A0AE"/>
          </a:solidFill>
          <a:ln w="12700">
            <a:solidFill>
              <a:srgbClr val="333333"/>
            </a:solidFill>
            <a:prstDash val="solid"/>
          </a:ln>
        </p:spPr>
      </p:sp>
      <p:sp>
        <p:nvSpPr>
          <p:cNvPr id="43" name="Text 41"/>
          <p:cNvSpPr/>
          <p:nvPr/>
        </p:nvSpPr>
        <p:spPr>
          <a:xfrm>
            <a:off x="9175119" y="3163824"/>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0.378</a:t>
            </a:r>
            <a:endParaRPr lang="en-US" sz="1050" dirty="0"/>
          </a:p>
        </p:txBody>
      </p:sp>
      <p:sp>
        <p:nvSpPr>
          <p:cNvPr id="44" name="Text 42"/>
          <p:cNvSpPr/>
          <p:nvPr/>
        </p:nvSpPr>
        <p:spPr>
          <a:xfrm>
            <a:off x="4370832" y="3470148"/>
            <a:ext cx="2103120" cy="251460"/>
          </a:xfrm>
          <a:prstGeom prst="rect">
            <a:avLst/>
          </a:prstGeom>
          <a:noFill/>
          <a:ln/>
        </p:spPr>
        <p:txBody>
          <a:bodyPr wrap="square" lIns="0" tIns="0" rIns="0" bIns="0" rtlCol="0" anchor="ctr"/>
          <a:lstStyle/>
          <a:p>
            <a:pPr algn="r" indent="0" marL="0">
              <a:buNone/>
            </a:pPr>
            <a:r>
              <a:rPr lang="en-US" sz="1050" b="1" dirty="0">
                <a:solidFill>
                  <a:srgbClr val="B4522F"/>
                </a:solidFill>
                <a:latin typeface="Calibri" pitchFamily="34" charset="0"/>
                <a:ea typeface="Calibri" pitchFamily="34" charset="-122"/>
                <a:cs typeface="Calibri" pitchFamily="34" charset="-120"/>
              </a:rPr>
              <a:t>Mimi, deployed tokeniser</a:t>
            </a:r>
            <a:endParaRPr lang="en-US" sz="1050" dirty="0"/>
          </a:p>
        </p:txBody>
      </p:sp>
      <p:sp>
        <p:nvSpPr>
          <p:cNvPr id="45" name="Shape 43"/>
          <p:cNvSpPr/>
          <p:nvPr/>
        </p:nvSpPr>
        <p:spPr>
          <a:xfrm>
            <a:off x="6565392" y="3488436"/>
            <a:ext cx="2362102" cy="214884"/>
          </a:xfrm>
          <a:prstGeom prst="rect">
            <a:avLst/>
          </a:prstGeom>
          <a:solidFill>
            <a:srgbClr val="B4522F"/>
          </a:solidFill>
          <a:ln w="12700">
            <a:solidFill>
              <a:srgbClr val="333333"/>
            </a:solidFill>
            <a:prstDash val="solid"/>
          </a:ln>
        </p:spPr>
      </p:sp>
      <p:sp>
        <p:nvSpPr>
          <p:cNvPr id="46" name="Text 44"/>
          <p:cNvSpPr/>
          <p:nvPr/>
        </p:nvSpPr>
        <p:spPr>
          <a:xfrm>
            <a:off x="9000646" y="3470148"/>
            <a:ext cx="777240" cy="251460"/>
          </a:xfrm>
          <a:prstGeom prst="rect">
            <a:avLst/>
          </a:prstGeom>
          <a:noFill/>
          <a:ln/>
        </p:spPr>
        <p:txBody>
          <a:bodyPr wrap="square" lIns="0" tIns="0" rIns="0" bIns="0" rtlCol="0" anchor="ctr"/>
          <a:lstStyle/>
          <a:p>
            <a:pPr indent="0" marL="0">
              <a:buNone/>
            </a:pPr>
            <a:r>
              <a:rPr lang="en-US" sz="1050" b="1" dirty="0">
                <a:solidFill>
                  <a:srgbClr val="B4522F"/>
                </a:solidFill>
                <a:latin typeface="Calibri" pitchFamily="34" charset="0"/>
                <a:ea typeface="Calibri" pitchFamily="34" charset="-122"/>
                <a:cs typeface="Calibri" pitchFamily="34" charset="-120"/>
              </a:rPr>
              <a:t>0.352</a:t>
            </a:r>
            <a:endParaRPr lang="en-US" sz="1050" dirty="0"/>
          </a:p>
        </p:txBody>
      </p:sp>
      <p:sp>
        <p:nvSpPr>
          <p:cNvPr id="47" name="Text 45"/>
          <p:cNvSpPr/>
          <p:nvPr/>
        </p:nvSpPr>
        <p:spPr>
          <a:xfrm>
            <a:off x="4370832" y="3776472"/>
            <a:ext cx="2103120" cy="251460"/>
          </a:xfrm>
          <a:prstGeom prst="rect">
            <a:avLst/>
          </a:prstGeom>
          <a:noFill/>
          <a:ln/>
        </p:spPr>
        <p:txBody>
          <a:bodyPr wrap="square" lIns="0" tIns="0" rIns="0" bIns="0" rtlCol="0" anchor="ctr"/>
          <a:lstStyle/>
          <a:p>
            <a:pPr algn="r" indent="0" marL="0">
              <a:buNone/>
            </a:pPr>
            <a:r>
              <a:rPr lang="en-US" sz="1050" dirty="0">
                <a:solidFill>
                  <a:srgbClr val="5C6773"/>
                </a:solidFill>
                <a:latin typeface="Calibri" pitchFamily="34" charset="0"/>
                <a:ea typeface="Calibri" pitchFamily="34" charset="-122"/>
                <a:cs typeface="Calibri" pitchFamily="34" charset="-120"/>
              </a:rPr>
              <a:t>No-skill baseline</a:t>
            </a:r>
            <a:endParaRPr lang="en-US" sz="1050" dirty="0"/>
          </a:p>
        </p:txBody>
      </p:sp>
      <p:sp>
        <p:nvSpPr>
          <p:cNvPr id="48" name="Shape 46"/>
          <p:cNvSpPr/>
          <p:nvPr/>
        </p:nvSpPr>
        <p:spPr>
          <a:xfrm>
            <a:off x="6565392" y="3794760"/>
            <a:ext cx="1315261" cy="214884"/>
          </a:xfrm>
          <a:prstGeom prst="rect">
            <a:avLst/>
          </a:prstGeom>
          <a:solidFill>
            <a:srgbClr val="D5DAE0"/>
          </a:solidFill>
          <a:ln w="12700">
            <a:solidFill>
              <a:srgbClr val="333333"/>
            </a:solidFill>
            <a:prstDash val="solid"/>
          </a:ln>
        </p:spPr>
      </p:sp>
      <p:sp>
        <p:nvSpPr>
          <p:cNvPr id="49" name="Text 47"/>
          <p:cNvSpPr/>
          <p:nvPr/>
        </p:nvSpPr>
        <p:spPr>
          <a:xfrm>
            <a:off x="7953805" y="3776472"/>
            <a:ext cx="777240" cy="251460"/>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0.196</a:t>
            </a:r>
            <a:endParaRPr lang="en-US" sz="1050" dirty="0"/>
          </a:p>
        </p:txBody>
      </p:sp>
      <p:sp>
        <p:nvSpPr>
          <p:cNvPr id="50" name="Shape 48"/>
          <p:cNvSpPr/>
          <p:nvPr/>
        </p:nvSpPr>
        <p:spPr>
          <a:xfrm>
            <a:off x="4370832" y="4434840"/>
            <a:ext cx="7333488" cy="804672"/>
          </a:xfrm>
          <a:prstGeom prst="roundRect">
            <a:avLst>
              <a:gd name="adj" fmla="val 5682"/>
            </a:avLst>
          </a:prstGeom>
          <a:solidFill>
            <a:srgbClr val="FFFFFF"/>
          </a:solidFill>
          <a:ln w="9525">
            <a:solidFill>
              <a:srgbClr val="DDE1E7"/>
            </a:solidFill>
            <a:prstDash val="solid"/>
          </a:ln>
        </p:spPr>
      </p:sp>
      <p:sp>
        <p:nvSpPr>
          <p:cNvPr id="51" name="Text 49"/>
          <p:cNvSpPr/>
          <p:nvPr/>
        </p:nvSpPr>
        <p:spPr>
          <a:xfrm>
            <a:off x="4517136" y="4517136"/>
            <a:ext cx="7040880" cy="640080"/>
          </a:xfrm>
          <a:prstGeom prst="rect">
            <a:avLst/>
          </a:prstGeom>
          <a:noFill/>
          <a:ln/>
        </p:spPr>
        <p:txBody>
          <a:bodyPr wrap="square" lIns="0" tIns="0" rIns="0" bIns="0" rtlCol="0" anchor="ctr"/>
          <a:lstStyle/>
          <a:p>
            <a:pPr indent="0" marL="0">
              <a:lnSpc>
                <a:spcPct val="110000"/>
              </a:lnSpc>
              <a:buNone/>
            </a:pPr>
            <a:r>
              <a:rPr lang="en-US" sz="1050" b="1" dirty="0">
                <a:solidFill>
                  <a:srgbClr val="131920"/>
                </a:solidFill>
                <a:latin typeface="Calibri" pitchFamily="34" charset="0"/>
                <a:ea typeface="Calibri" pitchFamily="34" charset="-122"/>
                <a:cs typeface="Calibri" pitchFamily="34" charset="-120"/>
              </a:rPr>
              <a:t>How to read this.   </a:t>
            </a:r>
            <a:pPr indent="0" marL="0">
              <a:lnSpc>
                <a:spcPct val="110000"/>
              </a:lnSpc>
              <a:buNone/>
            </a:pPr>
            <a:r>
              <a:rPr lang="en-US" sz="1050" dirty="0">
                <a:solidFill>
                  <a:srgbClr val="5C6773"/>
                </a:solidFill>
                <a:latin typeface="Calibri" pitchFamily="34" charset="0"/>
                <a:ea typeface="Calibri" pitchFamily="34" charset="-122"/>
                <a:cs typeface="Calibri" pitchFamily="34" charset="-120"/>
              </a:rPr>
              <a:t>Each bar is how accurately a simple classifier recovers the speaker's stance (affiliative, neutral or adversarial) from that representation alone, scored by macro-F1. Higher means more of the meaning survived. The pale bar is what a model with no real skill scores, so the distance above it is the signal.</a:t>
            </a:r>
            <a:endParaRPr lang="en-US" sz="1050" dirty="0"/>
          </a:p>
        </p:txBody>
      </p:sp>
      <p:sp>
        <p:nvSpPr>
          <p:cNvPr id="52" name="Text 50"/>
          <p:cNvSpPr/>
          <p:nvPr/>
        </p:nvSpPr>
        <p:spPr>
          <a:xfrm>
            <a:off x="4370832" y="5330952"/>
            <a:ext cx="7333488" cy="329184"/>
          </a:xfrm>
          <a:prstGeom prst="rect">
            <a:avLst/>
          </a:prstGeom>
          <a:noFill/>
          <a:ln/>
        </p:spPr>
        <p:txBody>
          <a:bodyPr wrap="square" lIns="0" tIns="0" rIns="0" bIns="0" rtlCol="0" anchor="ctr"/>
          <a:lstStyle/>
          <a:p>
            <a:pPr indent="0" marL="0">
              <a:buNone/>
            </a:pPr>
            <a:r>
              <a:rPr lang="en-US" sz="1050" b="1" dirty="0">
                <a:solidFill>
                  <a:srgbClr val="131920"/>
                </a:solidFill>
                <a:latin typeface="Calibri" pitchFamily="34" charset="0"/>
                <a:ea typeface="Calibri" pitchFamily="34" charset="-122"/>
                <a:cs typeface="Calibri" pitchFamily="34" charset="-120"/>
              </a:rPr>
              <a:t>Word held constant.   </a:t>
            </a:r>
            <a:pPr indent="0" marL="0">
              <a:buNone/>
            </a:pPr>
            <a:r>
              <a:rPr lang="en-US" sz="1050" dirty="0">
                <a:solidFill>
                  <a:srgbClr val="5C6773"/>
                </a:solidFill>
                <a:latin typeface="Calibri" pitchFamily="34" charset="0"/>
                <a:ea typeface="Calibri" pitchFamily="34" charset="-122"/>
                <a:cs typeface="Calibri" pitchFamily="34" charset="-120"/>
              </a:rPr>
              <a:t>Averaged within each of the eight phrases, WavLM scores 0.659 against 0.534 for text, so the contrast survives even when the word itself cannot help.</a:t>
            </a:r>
            <a:endParaRPr lang="en-US" sz="1050" dirty="0"/>
          </a:p>
        </p:txBody>
      </p:sp>
      <p:sp>
        <p:nvSpPr>
          <p:cNvPr id="53" name="Shape 51"/>
          <p:cNvSpPr/>
          <p:nvPr/>
        </p:nvSpPr>
        <p:spPr>
          <a:xfrm>
            <a:off x="457200" y="5779008"/>
            <a:ext cx="11247120" cy="658368"/>
          </a:xfrm>
          <a:prstGeom prst="roundRect">
            <a:avLst>
              <a:gd name="adj" fmla="val 8333"/>
            </a:avLst>
          </a:prstGeom>
          <a:solidFill>
            <a:srgbClr val="EAF2F3"/>
          </a:solidFill>
          <a:ln w="9525">
            <a:solidFill>
              <a:srgbClr val="CBE0E2"/>
            </a:solidFill>
            <a:prstDash val="solid"/>
          </a:ln>
        </p:spPr>
      </p:sp>
      <p:sp>
        <p:nvSpPr>
          <p:cNvPr id="54" name="Text 52"/>
          <p:cNvSpPr/>
          <p:nvPr/>
        </p:nvSpPr>
        <p:spPr>
          <a:xfrm>
            <a:off x="658368" y="5897880"/>
            <a:ext cx="10881360" cy="438912"/>
          </a:xfrm>
          <a:prstGeom prst="rect">
            <a:avLst/>
          </a:prstGeom>
          <a:noFill/>
          <a:ln/>
        </p:spPr>
        <p:txBody>
          <a:bodyPr wrap="square" lIns="0" tIns="0" rIns="0" bIns="0" rtlCol="0" anchor="ctr"/>
          <a:lstStyle/>
          <a:p>
            <a:pPr indent="0" marL="0">
              <a:buNone/>
            </a:pPr>
            <a:r>
              <a:rPr lang="en-US" sz="1200" b="1" dirty="0">
                <a:solidFill>
                  <a:srgbClr val="0F7A84"/>
                </a:solidFill>
                <a:latin typeface="Calibri" pitchFamily="34" charset="0"/>
                <a:ea typeface="Calibri" pitchFamily="34" charset="-122"/>
                <a:cs typeface="Calibri" pitchFamily="34" charset="-120"/>
              </a:rPr>
              <a:t>Finding.   </a:t>
            </a:r>
            <a:pPr indent="0" marL="0">
              <a:buNone/>
            </a:pPr>
            <a:r>
              <a:rPr lang="en-US" sz="1200" dirty="0">
                <a:solidFill>
                  <a:srgbClr val="131920"/>
                </a:solidFill>
                <a:latin typeface="Calibri" pitchFamily="34" charset="0"/>
                <a:ea typeface="Calibri" pitchFamily="34" charset="-122"/>
                <a:cs typeface="Calibri" pitchFamily="34" charset="-120"/>
              </a:rPr>
              <a:t>Continuous representations preserve pragmatic stance, and it holds at matched arousal and on speakers the probe never trained on. The discrete tokens deployed systems actually consume lose most of it, though not all.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Pragmatic Contrast in Speech Representations</dc:title>
  <dc:subject>PptxGenJS Presentation</dc:subject>
  <dc:creator>Caroline Swartz</dc:creator>
  <cp:lastModifiedBy>Caroline Swartz</cp:lastModifiedBy>
  <cp:revision>1</cp:revision>
  <dcterms:created xsi:type="dcterms:W3CDTF">2026-07-29T21:29:07Z</dcterms:created>
  <dcterms:modified xsi:type="dcterms:W3CDTF">2026-07-29T21:29:07Z</dcterms:modified>
</cp:coreProperties>
</file>