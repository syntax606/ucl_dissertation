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Unseen speakers. Folds are grouped by episode in the main analysis, but two episodes of one show share a host, so speaker identity could still leak. Grouping by show instead puts an entire show and its host either in training or in testing, never both, which forces the probe onto voices it has never heard. WavLM moves only from 0.573 to 0.530, so it is reading delivery rather than recognising who is speaking.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THE CONFOUND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continuous only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3310128"/>
          </a:xfrm>
          <a:prstGeom prst="roundRect">
            <a:avLst>
              <a:gd name="adj" fmla="val 1657"/>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Shape 33"/>
          <p:cNvSpPr/>
          <p:nvPr/>
        </p:nvSpPr>
        <p:spPr>
          <a:xfrm>
            <a:off x="658368" y="5138928"/>
            <a:ext cx="3300984" cy="0"/>
          </a:xfrm>
          <a:prstGeom prst="line">
            <a:avLst/>
          </a:prstGeom>
          <a:noFill/>
          <a:ln w="9525">
            <a:solidFill>
              <a:srgbClr val="DDE1E7"/>
            </a:solidFill>
            <a:prstDash val="solid"/>
          </a:ln>
        </p:spPr>
      </p:sp>
      <p:sp>
        <p:nvSpPr>
          <p:cNvPr id="36" name="Text 34"/>
          <p:cNvSpPr/>
          <p:nvPr/>
        </p:nvSpPr>
        <p:spPr>
          <a:xfrm>
            <a:off x="658368" y="5212080"/>
            <a:ext cx="3300984" cy="182880"/>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CONTROLS</a:t>
            </a:r>
            <a:endParaRPr lang="en-US" sz="900" dirty="0"/>
          </a:p>
        </p:txBody>
      </p:sp>
      <p:sp>
        <p:nvSpPr>
          <p:cNvPr id="37" name="Text 35"/>
          <p:cNvSpPr/>
          <p:nvPr/>
        </p:nvSpPr>
        <p:spPr>
          <a:xfrm>
            <a:off x="658368" y="5431536"/>
            <a:ext cx="3300984" cy="475488"/>
          </a:xfrm>
          <a:prstGeom prst="rect">
            <a:avLst/>
          </a:prstGeom>
          <a:noFill/>
          <a:ln/>
        </p:spPr>
        <p:txBody>
          <a:bodyPr wrap="square" lIns="0" tIns="0" rIns="0" bIns="0" rtlCol="0" anchor="ctr"/>
          <a:lstStyle/>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Arousal matched</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stance still decoded within each level.</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Unseen speakers</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train and test never share a show, 0.573 to 0.530.</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Clustered data</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folds and bootstrap by episode, 200 permutations.</a:t>
            </a:r>
            <a:endParaRPr lang="en-US" sz="850" dirty="0"/>
          </a:p>
        </p:txBody>
      </p:sp>
      <p:sp>
        <p:nvSpPr>
          <p:cNvPr id="38" name="Text 36"/>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9" name="Shape 37"/>
          <p:cNvSpPr/>
          <p:nvPr/>
        </p:nvSpPr>
        <p:spPr>
          <a:xfrm>
            <a:off x="6565392" y="2843784"/>
            <a:ext cx="0" cy="1664208"/>
          </a:xfrm>
          <a:prstGeom prst="line">
            <a:avLst/>
          </a:prstGeom>
          <a:noFill/>
          <a:ln w="12700">
            <a:solidFill>
              <a:srgbClr val="DDE1E7"/>
            </a:solidFill>
            <a:prstDash val="solid"/>
          </a:ln>
        </p:spPr>
      </p:sp>
      <p:sp>
        <p:nvSpPr>
          <p:cNvPr id="40" name="Text 38"/>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41" name="Shape 39"/>
          <p:cNvSpPr/>
          <p:nvPr/>
        </p:nvSpPr>
        <p:spPr>
          <a:xfrm>
            <a:off x="7907495" y="2843784"/>
            <a:ext cx="0" cy="1664208"/>
          </a:xfrm>
          <a:prstGeom prst="line">
            <a:avLst/>
          </a:prstGeom>
          <a:noFill/>
          <a:ln w="9525">
            <a:solidFill>
              <a:srgbClr val="EDEFF2"/>
            </a:solidFill>
            <a:prstDash val="solid"/>
          </a:ln>
        </p:spPr>
      </p:sp>
      <p:sp>
        <p:nvSpPr>
          <p:cNvPr id="42" name="Text 40"/>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3" name="Shape 41"/>
          <p:cNvSpPr/>
          <p:nvPr/>
        </p:nvSpPr>
        <p:spPr>
          <a:xfrm>
            <a:off x="9249598" y="2843784"/>
            <a:ext cx="0" cy="1664208"/>
          </a:xfrm>
          <a:prstGeom prst="line">
            <a:avLst/>
          </a:prstGeom>
          <a:noFill/>
          <a:ln w="9525">
            <a:solidFill>
              <a:srgbClr val="EDEFF2"/>
            </a:solidFill>
            <a:prstDash val="solid"/>
          </a:ln>
        </p:spPr>
      </p:sp>
      <p:sp>
        <p:nvSpPr>
          <p:cNvPr id="44" name="Text 42"/>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5" name="Shape 43"/>
          <p:cNvSpPr/>
          <p:nvPr/>
        </p:nvSpPr>
        <p:spPr>
          <a:xfrm>
            <a:off x="10591702" y="2843784"/>
            <a:ext cx="0" cy="1664208"/>
          </a:xfrm>
          <a:prstGeom prst="line">
            <a:avLst/>
          </a:prstGeom>
          <a:noFill/>
          <a:ln w="9525">
            <a:solidFill>
              <a:srgbClr val="EDEFF2"/>
            </a:solidFill>
            <a:prstDash val="solid"/>
          </a:ln>
        </p:spPr>
      </p:sp>
      <p:sp>
        <p:nvSpPr>
          <p:cNvPr id="46" name="Text 44"/>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7" name="Shape 45"/>
          <p:cNvSpPr/>
          <p:nvPr/>
        </p:nvSpPr>
        <p:spPr>
          <a:xfrm>
            <a:off x="8779862" y="2816352"/>
            <a:ext cx="0" cy="1682496"/>
          </a:xfrm>
          <a:prstGeom prst="line">
            <a:avLst/>
          </a:prstGeom>
          <a:noFill/>
          <a:ln w="15875">
            <a:solidFill>
              <a:srgbClr val="B4522F"/>
            </a:solidFill>
            <a:prstDash val="dash"/>
          </a:ln>
        </p:spPr>
      </p:sp>
      <p:sp>
        <p:nvSpPr>
          <p:cNvPr id="48" name="Text 46"/>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9" name="Text 47"/>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50" name="Shape 48"/>
          <p:cNvSpPr/>
          <p:nvPr/>
        </p:nvSpPr>
        <p:spPr>
          <a:xfrm>
            <a:off x="6565392" y="2889504"/>
            <a:ext cx="3845126" cy="196596"/>
          </a:xfrm>
          <a:prstGeom prst="rect">
            <a:avLst/>
          </a:prstGeom>
          <a:solidFill>
            <a:srgbClr val="0F7A84"/>
          </a:solidFill>
          <a:ln w="12700">
            <a:solidFill>
              <a:srgbClr val="333333"/>
            </a:solidFill>
            <a:prstDash val="solid"/>
          </a:ln>
        </p:spPr>
      </p:sp>
      <p:sp>
        <p:nvSpPr>
          <p:cNvPr id="51" name="Text 49"/>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52" name="Text 50"/>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3" name="Shape 51"/>
          <p:cNvSpPr/>
          <p:nvPr/>
        </p:nvSpPr>
        <p:spPr>
          <a:xfrm>
            <a:off x="6565392" y="3163824"/>
            <a:ext cx="3784731" cy="196596"/>
          </a:xfrm>
          <a:prstGeom prst="rect">
            <a:avLst/>
          </a:prstGeom>
          <a:solidFill>
            <a:srgbClr val="0F7A84"/>
          </a:solidFill>
          <a:ln w="12700">
            <a:solidFill>
              <a:srgbClr val="333333"/>
            </a:solidFill>
            <a:prstDash val="solid"/>
          </a:ln>
        </p:spPr>
      </p:sp>
      <p:sp>
        <p:nvSpPr>
          <p:cNvPr id="54" name="Text 52"/>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5" name="Text 53"/>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6" name="Shape 54"/>
          <p:cNvSpPr/>
          <p:nvPr/>
        </p:nvSpPr>
        <p:spPr>
          <a:xfrm>
            <a:off x="6565392" y="3438144"/>
            <a:ext cx="3489468" cy="196596"/>
          </a:xfrm>
          <a:prstGeom prst="rect">
            <a:avLst/>
          </a:prstGeom>
          <a:solidFill>
            <a:srgbClr val="0F7A84"/>
          </a:solidFill>
          <a:ln w="12700">
            <a:solidFill>
              <a:srgbClr val="333333"/>
            </a:solidFill>
            <a:prstDash val="solid"/>
          </a:ln>
        </p:spPr>
      </p:sp>
      <p:sp>
        <p:nvSpPr>
          <p:cNvPr id="57" name="Text 55"/>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8" name="Text 56"/>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9" name="Shape 57"/>
          <p:cNvSpPr/>
          <p:nvPr/>
        </p:nvSpPr>
        <p:spPr>
          <a:xfrm>
            <a:off x="6565392" y="3712464"/>
            <a:ext cx="3268021" cy="196596"/>
          </a:xfrm>
          <a:prstGeom prst="rect">
            <a:avLst/>
          </a:prstGeom>
          <a:solidFill>
            <a:srgbClr val="94A0AE"/>
          </a:solidFill>
          <a:ln w="12700">
            <a:solidFill>
              <a:srgbClr val="333333"/>
            </a:solidFill>
            <a:prstDash val="solid"/>
          </a:ln>
        </p:spPr>
      </p:sp>
      <p:sp>
        <p:nvSpPr>
          <p:cNvPr id="60" name="Text 58"/>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61" name="Text 59"/>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62" name="Shape 60"/>
          <p:cNvSpPr/>
          <p:nvPr/>
        </p:nvSpPr>
        <p:spPr>
          <a:xfrm>
            <a:off x="6565392" y="3986784"/>
            <a:ext cx="2556707" cy="196596"/>
          </a:xfrm>
          <a:prstGeom prst="rect">
            <a:avLst/>
          </a:prstGeom>
          <a:solidFill>
            <a:srgbClr val="B4522F"/>
          </a:solidFill>
          <a:ln w="12700">
            <a:solidFill>
              <a:srgbClr val="333333"/>
            </a:solidFill>
            <a:prstDash val="solid"/>
          </a:ln>
        </p:spPr>
      </p:sp>
      <p:sp>
        <p:nvSpPr>
          <p:cNvPr id="63" name="Text 61"/>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4" name="Text 62"/>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5" name="Shape 63"/>
          <p:cNvSpPr/>
          <p:nvPr/>
        </p:nvSpPr>
        <p:spPr>
          <a:xfrm>
            <a:off x="6565392" y="4261104"/>
            <a:ext cx="2536575" cy="196596"/>
          </a:xfrm>
          <a:prstGeom prst="rect">
            <a:avLst/>
          </a:prstGeom>
          <a:solidFill>
            <a:srgbClr val="94A0AE"/>
          </a:solidFill>
          <a:ln w="12700">
            <a:solidFill>
              <a:srgbClr val="333333"/>
            </a:solidFill>
            <a:prstDash val="solid"/>
          </a:ln>
        </p:spPr>
      </p:sp>
      <p:sp>
        <p:nvSpPr>
          <p:cNvPr id="66" name="Text 64"/>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7" name="Shape 65"/>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8" name="Shape 66"/>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9" name="Text 67"/>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70" name="Text 68"/>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71" name="Shape 69"/>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72" name="Text 70"/>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Pragmatic stance survives in continuous representations, and it survives the lexical control, where WavLM reaches 0.659 against 0.534 for text. Most of it does not survive discretisation. The tokens deployed systems consume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2026-07-30T10:54:19Z</dcterms:created>
  <dcterms:modified xsi:type="dcterms:W3CDTF">2026-07-30T10:54:19Z</dcterms:modified>
</cp:coreProperties>
</file>